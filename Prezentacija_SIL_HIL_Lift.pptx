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6170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Naslovni slajd. Projekat: upravljanje liftom, prvo SIL (sve na jednom racunaru) pa HIL (raspodela na dva NI kontrolera preko mreze), u LabVIEW-u.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Cilj: kompletna LabVIEW aplikacija za lift kroz tri programa. Fizika je model prvog reda; akcenat na regulatoru, automatu i prenosu na dva uredjaja.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SIL: sve softverski na jednom racunaru, brzo debagovanje bez rizika. Tek kad je ponasanje potvrdjeno, prelazi se na HIL: dva odvojena NI kontrolera koja komuniciraju preko mreze.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Tri VI-ja: Model_Lifta na sbRIO, Automat na cRIO, HMI na PC. FPGA se ne koristi (nema fizickih senzora ni aktuatora), sve ide preko mreznih deljenih promenljivih. Redosled pokretanja: model, automat,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Osam deljenih promenljivih cini interfejs izmedju tri VI-ja. Posto server zadrzava poslednju vrednost, svaki VI pri startu upisuje default za Stop i CiljniSprat da se sistem ne zakljuca u Shutdown. x se u HIL verziji cita sa mreze.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Umesto detaljnog fizickog modela, jednacina prvog reda diskretizovana Euler forward. K=0.55 ublazava nagli skok signala. Problem curenja pozicije ka nuli pri mirovanju resen je promenljivom AutomatUMoving (formula se primenjuje samo u stanju Moving).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Ideja postavljanja polova: umesto biranja Kp i Ki probom, zadamo zeljene polove zatvorene petlje (drugog reda: objekat prvog reda + integrator), pa se pojacanja izracunaju analiticki. Birani razmaknuti realni polovi, stabilan odziv bez preskakanja. Usvojeno Kp=5.5, Ki=1.3. Histereza: |e|&gt;0.8 za polazak, |e|&lt;0.05 za dolazak. Kljucna ispravka: apsolutna vrednost greske u oba uslova.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Cetiri stanja: Idle, Moving, DoorOpen, Shutdown. Prelazi: Idle-&gt;Moving kad ima poziv, Moving-&gt;DoorOpen kad lift stigne, DoorOpen-&gt;Idle po isteku tajmera. Guard Clause pri Stop-u ili gresci prisilno vodi u Shutdown bez obzira na glavnu logiku.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Implementacija automata: jedna While petlja; shift-registri nose trenutno stanje i integralnu sumu; x se u HIL verziji cita sa mreze. Svaka iteracija: procita stanje -&gt; Case struktura racuna u i predlaze sledece stanje -&gt; Guard Clause presretne (Stop/greska -&gt; Shutdown) -&gt; stanje se upise u shift-registar. Mesto za sliku block dijagrama (Slika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Front panel: 6 unutrasnjih dugmadi (0-5) + 10 spoljasnjih poziva. Unutrasnja dugmad aktivna tek nakon poziva spolja i samo u smeru poziva. Grafik prikazuje neprekidnu poziciju (Meter), plus vizuelni indikator za zaokruzenu poziciju. Cetiri LED-a za stanje, uvek tacno jedan aktivan. Mesto za sliku front panela (Slika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Panel ima dve nezavisne paralelne petlje: jedna sa Event strukturom hvata klikove i upisuje komande na mrezu; druga neprekidno cita poziciju i stanje i osvezava prikaz. Razdvajanje cini prikaz glatkim i azurnim nezavisno od klikova. Mesto za sliku block dijagrama (Slika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Bezbedno gasenje preko Guard Clause -&gt; Shutdown. Kljuc: Shutdown prvo postavi u=0 i zaustavi kretanje, pa se tek onda petlja gasi. Tako na mrezi ne ostanu zaostale vrednosti (npr. u razlicito od nule) koje bi model i automat citali kao protivrecne. Naglo gasenje bi ostavilo takve vrednosti.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Zakljucak: put od modela do raspodele na hardver. Tri kljucne zamke i resenja: (1) apsolutna vrednost greske ispravlja asimetriju kretanja; (2) Elapsed Time se nije pouzdano resetovao pri ponovnom ulasku u DoorOpen, pa je zamenjen namenskim Action Engine tajmerom sa metodama Reset/Timecheck; (3) reset integralne sume i default vrednosti deljenih promenljivih pri startu ciste zaostatke. Hvala na paznji.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7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903720" y="0"/>
            <a:ext cx="2240280" cy="5143500"/>
          </a:xfrm>
          <a:prstGeom prst="rect">
            <a:avLst/>
          </a:prstGeom>
          <a:solidFill>
            <a:srgbClr val="1E2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903720" y="0"/>
            <a:ext cx="45720" cy="5143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35240" y="868680"/>
            <a:ext cx="822960" cy="3429000"/>
          </a:xfrm>
          <a:prstGeom prst="rect">
            <a:avLst/>
          </a:prstGeom>
          <a:solidFill>
            <a:srgbClr val="16233D"/>
          </a:solidFill>
          <a:ln w="12700">
            <a:solidFill>
              <a:srgbClr val="34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7635240" y="3726180"/>
            <a:ext cx="822960" cy="0"/>
          </a:xfrm>
          <a:prstGeom prst="line">
            <a:avLst/>
          </a:prstGeom>
          <a:ln w="9525">
            <a:solidFill>
              <a:srgbClr val="2C3C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635240" y="3154680"/>
            <a:ext cx="822960" cy="0"/>
          </a:xfrm>
          <a:prstGeom prst="line">
            <a:avLst/>
          </a:prstGeom>
          <a:ln w="9525">
            <a:solidFill>
              <a:srgbClr val="2C3C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35240" y="2583180"/>
            <a:ext cx="822960" cy="0"/>
          </a:xfrm>
          <a:prstGeom prst="line">
            <a:avLst/>
          </a:prstGeom>
          <a:ln w="9525">
            <a:solidFill>
              <a:srgbClr val="2C3C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35240" y="2011680"/>
            <a:ext cx="822960" cy="0"/>
          </a:xfrm>
          <a:prstGeom prst="line">
            <a:avLst/>
          </a:prstGeom>
          <a:ln w="9525">
            <a:solidFill>
              <a:srgbClr val="2C3C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35240" y="1440180"/>
            <a:ext cx="822960" cy="0"/>
          </a:xfrm>
          <a:prstGeom prst="line">
            <a:avLst/>
          </a:prstGeom>
          <a:ln w="9525">
            <a:solidFill>
              <a:srgbClr val="2C3C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35240" y="868680"/>
            <a:ext cx="822960" cy="0"/>
          </a:xfrm>
          <a:prstGeom prst="line">
            <a:avLst/>
          </a:prstGeom>
          <a:ln w="9525">
            <a:solidFill>
              <a:srgbClr val="2C3C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54112" y="3337560"/>
            <a:ext cx="585216" cy="566928"/>
          </a:xfrm>
          <a:prstGeom prst="roundRect">
            <a:avLst>
              <a:gd name="adj" fmla="val 18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8092440" y="3337560"/>
            <a:ext cx="0" cy="566928"/>
          </a:xfrm>
          <a:prstGeom prst="line">
            <a:avLst/>
          </a:prstGeom>
          <a:ln w="12700">
            <a:solidFill>
              <a:srgbClr val="0A4A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hevron 13"/>
          <p:cNvSpPr/>
          <p:nvPr/>
        </p:nvSpPr>
        <p:spPr>
          <a:xfrm rot="16200000">
            <a:off x="7891271" y="1097280"/>
            <a:ext cx="310896" cy="274320"/>
          </a:xfrm>
          <a:prstGeom prst="chevron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7F3F4"/>
                </a:solidFill>
                <a:latin typeface="Poppins"/>
              </a:rPr>
              <a:t>FAKULTET TEHNIČKIH NAUKA  ·  NOVI SAD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932688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9DB0C9"/>
                </a:solidFill>
                <a:latin typeface="Calibri"/>
              </a:rPr>
              <a:t>Upravljanje i regulacija · UARV projekat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1554480"/>
            <a:ext cx="62179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Poppins"/>
              </a:rPr>
              <a:t>Sistem za upravljanje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Poppins"/>
              </a:rPr>
              <a:t>liftom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788920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Poppins"/>
              </a:rPr>
              <a:t>SIL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47672" y="2788920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Poppins"/>
              </a:rPr>
              <a:t>HIL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2825496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C7D4E4"/>
                </a:solidFill>
                <a:latin typeface="Calibri"/>
              </a:rPr>
              <a:t>simulacija u LabVIEW okruženju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3456432"/>
            <a:ext cx="5650992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3611880"/>
            <a:ext cx="6035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D3DDEA"/>
                </a:solidFill>
                <a:latin typeface="Calibri"/>
              </a:rPr>
              <a:t>Nikol Vidaković  ·  RA232/2023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D3DDEA"/>
                </a:solidFill>
                <a:latin typeface="Calibri"/>
              </a:rPr>
              <a:t>Nedeljko Ćuso  ·  RA175/2023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D3DDEA"/>
                </a:solidFill>
                <a:latin typeface="Calibri"/>
              </a:rPr>
              <a:t>Valerija Teovanović  ·  RA187/2023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D3DDEA"/>
                </a:solidFill>
                <a:latin typeface="Calibri"/>
              </a:rPr>
              <a:t>Vladimir Trkulja  ·  RA233/2023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718304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6C7688"/>
                </a:solidFill>
                <a:latin typeface="Calibri"/>
              </a:rPr>
              <a:t>Novi Sad, jul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UVOD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Cilj projekta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17320"/>
            <a:ext cx="466344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7223B"/>
                </a:solidFill>
                <a:latin typeface="Calibri"/>
              </a:rPr>
              <a:t>Kompletna aplikacija za upravljanje liftom u LabVIEW-u, podeljena u </a:t>
            </a:r>
            <a:r>
              <a:rPr sz="1200" b="0" i="0">
                <a:solidFill>
                  <a:srgbClr val="3A4763"/>
                </a:solidFill>
                <a:latin typeface="Calibri"/>
              </a:rPr>
              <a:t>tri odvojena programa.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7223B"/>
                </a:solidFill>
                <a:latin typeface="Calibri"/>
              </a:rPr>
              <a:t>Fizika lifta namerno pojednostavljena: </a:t>
            </a:r>
            <a:r>
              <a:rPr sz="1200" b="0" i="0">
                <a:solidFill>
                  <a:srgbClr val="3A4763"/>
                </a:solidFill>
                <a:latin typeface="Calibri"/>
              </a:rPr>
              <a:t>sistem prvog reda; fokus nije na vernoj mehanici.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7223B"/>
                </a:solidFill>
                <a:latin typeface="Calibri"/>
              </a:rPr>
              <a:t>Težište na </a:t>
            </a:r>
            <a:r>
              <a:rPr sz="1200" b="0" i="0">
                <a:solidFill>
                  <a:srgbClr val="3A4763"/>
                </a:solidFill>
                <a:latin typeface="Calibri"/>
              </a:rPr>
              <a:t>analitički podešenom regulatoru, robusnom automatu stanja i ispravnom prenosu arhitekture sa jedne na dve mašine.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7223B"/>
                </a:solidFill>
                <a:latin typeface="Calibri"/>
              </a:rPr>
              <a:t>Ključna ideja: logika koja u simulaciji radi na </a:t>
            </a:r>
            <a:r>
              <a:rPr sz="1200" b="0" i="0">
                <a:solidFill>
                  <a:srgbClr val="3A4763"/>
                </a:solidFill>
                <a:latin typeface="Calibri"/>
              </a:rPr>
              <a:t>jednom računaru mora raditi i kada se razdeli na dva mrežno povezana uređaja.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0" y="1371600"/>
            <a:ext cx="3017520" cy="960120"/>
          </a:xfrm>
          <a:prstGeom prst="roundRect">
            <a:avLst>
              <a:gd name="adj" fmla="val 9000"/>
            </a:avLst>
          </a:prstGeom>
          <a:solidFill>
            <a:srgbClr val="E7F3F4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769864" y="1545336"/>
            <a:ext cx="603504" cy="6035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69864" y="1545336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1508760"/>
            <a:ext cx="20116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7223B"/>
                </a:solidFill>
                <a:latin typeface="Poppins"/>
              </a:rPr>
              <a:t>Model dinamike lifta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1828800"/>
            <a:ext cx="199339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C7688"/>
                </a:solidFill>
                <a:latin typeface="Calibri"/>
              </a:rPr>
              <a:t>Simulacija fizike: jednačina prvog reda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2496312"/>
            <a:ext cx="3017520" cy="960120"/>
          </a:xfrm>
          <a:prstGeom prst="roundRect">
            <a:avLst>
              <a:gd name="adj" fmla="val 9000"/>
            </a:avLst>
          </a:prstGeom>
          <a:solidFill>
            <a:srgbClr val="FBEEDD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769864" y="2670048"/>
            <a:ext cx="603504" cy="603504"/>
          </a:xfrm>
          <a:prstGeom prst="ellipse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69864" y="2670048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633472"/>
            <a:ext cx="20116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7223B"/>
                </a:solidFill>
                <a:latin typeface="Poppins"/>
              </a:rPr>
              <a:t>Upravljačka aplikacija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953512"/>
            <a:ext cx="199339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C7688"/>
                </a:solidFill>
                <a:latin typeface="Calibri"/>
              </a:rPr>
              <a:t>Automat stanja + PI regulator pozicije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3621024"/>
            <a:ext cx="3017520" cy="960120"/>
          </a:xfrm>
          <a:prstGeom prst="roundRect">
            <a:avLst>
              <a:gd name="adj" fmla="val 9000"/>
            </a:avLst>
          </a:prstGeom>
          <a:solidFill>
            <a:srgbClr val="E6F3EC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769864" y="3794760"/>
            <a:ext cx="603504" cy="603504"/>
          </a:xfrm>
          <a:prstGeom prst="ellipse">
            <a:avLst/>
          </a:prstGeom>
          <a:solidFill>
            <a:srgbClr val="3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69864" y="3794760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3758184"/>
            <a:ext cx="20116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7223B"/>
                </a:solidFill>
                <a:latin typeface="Poppins"/>
              </a:rPr>
              <a:t>Korisnički panel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078224"/>
            <a:ext cx="199339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C7688"/>
                </a:solidFill>
                <a:latin typeface="Calibri"/>
              </a:rPr>
              <a:t>Pozivi, prikaz pozicije i stanja u realnom vremenu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METODOLOGIJA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Dve faze razvoja: SIL → HIL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261872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3A4763"/>
                </a:solidFill>
                <a:latin typeface="Calibri"/>
              </a:rPr>
              <a:t>Sistem je razvijan kroz dve jasno odvojene faze: prvo bezbedno u softveru, potom na realnom hardveru.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920240"/>
            <a:ext cx="3611880" cy="2514600"/>
          </a:xfrm>
          <a:prstGeom prst="roundRect">
            <a:avLst>
              <a:gd name="adj" fmla="val 5000"/>
            </a:avLst>
          </a:prstGeom>
          <a:solidFill>
            <a:srgbClr val="E7F3F4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60120" y="2121408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Poppins"/>
              </a:rPr>
              <a:t>SIL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12140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A5A62"/>
                </a:solidFill>
                <a:latin typeface="Poppins"/>
              </a:rPr>
              <a:t>Software in 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97480"/>
            <a:ext cx="320040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Model fizike i upravljačka logika izvršavaju se zajedno na jednom računaru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Brzo otkrivanje i ispravljanje grešaka u logici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Bez ikakvog rizika po hardver</a:t>
            </a:r>
          </a:p>
        </p:txBody>
      </p:sp>
      <p:sp>
        <p:nvSpPr>
          <p:cNvPr id="12" name="Chevron 11"/>
          <p:cNvSpPr/>
          <p:nvPr/>
        </p:nvSpPr>
        <p:spPr>
          <a:xfrm>
            <a:off x="4443984" y="2852928"/>
            <a:ext cx="457200" cy="640080"/>
          </a:xfrm>
          <a:prstGeom prst="chevron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06240" y="3520440"/>
            <a:ext cx="960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1">
                <a:solidFill>
                  <a:srgbClr val="6C7688"/>
                </a:solidFill>
                <a:latin typeface="Calibri"/>
              </a:rPr>
              <a:t>potvrda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920240"/>
            <a:ext cx="3611880" cy="2514600"/>
          </a:xfrm>
          <a:prstGeom prst="roundRect">
            <a:avLst>
              <a:gd name="adj" fmla="val 5000"/>
            </a:avLst>
          </a:prstGeom>
          <a:solidFill>
            <a:srgbClr val="FBEEDD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93792" y="2121408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Poppins"/>
              </a:rPr>
              <a:t>HIL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21408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9A5A16"/>
                </a:solidFill>
                <a:latin typeface="Poppins"/>
              </a:rPr>
              <a:t>Hardware in the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2697480"/>
            <a:ext cx="320040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D9832F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Sistem raspoređen na dva NI kontrolera koji komuniciraju samo preko mreže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D9832F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Svaki uređaj radi pod sopstvenim real-time OS-om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D9832F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Verno simulira fizički razdvojenu upravljačku jedinicu i uređaj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RASPODELA NA UREĐAJE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Arhitektura sistema (HIL)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243584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3A4763"/>
                </a:solidFill>
                <a:latin typeface="Calibri"/>
              </a:rPr>
              <a:t>Tri VI-ja na tri čvora; sva razmena podataka je softverska, preko mrežnih deljenih promenljivih (FPGA sloj se ne koristi).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874519"/>
            <a:ext cx="248716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D9DFE5"/>
            </a:solidFill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 Same Side Corner Rectangle 8"/>
          <p:cNvSpPr/>
          <p:nvPr/>
        </p:nvSpPr>
        <p:spPr>
          <a:xfrm>
            <a:off x="749808" y="1874519"/>
            <a:ext cx="2487168" cy="457200"/>
          </a:xfrm>
          <a:prstGeom prst="round2SameRect">
            <a:avLst/>
          </a:prstGeom>
          <a:solidFill>
            <a:srgbClr val="3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1874519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Poppins"/>
              </a:rPr>
              <a:t>Personalni računar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41448"/>
            <a:ext cx="22128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7223B"/>
                </a:solidFill>
                <a:latin typeface="Poppins"/>
              </a:rPr>
              <a:t>Korisnički panel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807208"/>
            <a:ext cx="2194560" cy="329184"/>
          </a:xfrm>
          <a:prstGeom prst="roundRect">
            <a:avLst>
              <a:gd name="adj" fmla="val 1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807208"/>
            <a:ext cx="21945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A4763"/>
                </a:solidFill>
                <a:latin typeface="Consolas"/>
              </a:rPr>
              <a:t>PC_HMI_Lift.vi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246120"/>
            <a:ext cx="221284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C7688"/>
                </a:solidFill>
                <a:latin typeface="Calibri"/>
              </a:rPr>
              <a:t>Pozivi · prikaz pozicije i stanja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1874519"/>
            <a:ext cx="248716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D9DFE5"/>
            </a:solidFill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>
            <a:off x="3328416" y="1874519"/>
            <a:ext cx="2487168" cy="457200"/>
          </a:xfrm>
          <a:prstGeom prst="round2SameRect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56432" y="1874519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Poppins"/>
              </a:rPr>
              <a:t>cRIO kontroler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441448"/>
            <a:ext cx="22128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7223B"/>
                </a:solidFill>
                <a:latin typeface="Poppins"/>
              </a:rPr>
              <a:t>Upravljačka aplikacija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2807208"/>
            <a:ext cx="2194560" cy="329184"/>
          </a:xfrm>
          <a:prstGeom prst="roundRect">
            <a:avLst>
              <a:gd name="adj" fmla="val 1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2807208"/>
            <a:ext cx="21945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A4763"/>
                </a:solidFill>
                <a:latin typeface="Consolas"/>
              </a:rPr>
              <a:t>Automat_Lift_sbRIO.vi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246120"/>
            <a:ext cx="221284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C7688"/>
                </a:solidFill>
                <a:latin typeface="Calibri"/>
              </a:rPr>
              <a:t>Automat stanja + PI regulator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1874519"/>
            <a:ext cx="248716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D9DFE5"/>
            </a:solidFill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>
            <a:off x="5907024" y="1874519"/>
            <a:ext cx="2487168" cy="457200"/>
          </a:xfrm>
          <a:prstGeom prst="round2Same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35040" y="1874519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Poppins"/>
              </a:rPr>
              <a:t>sbRIO kontroler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8" y="2441448"/>
            <a:ext cx="22128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7223B"/>
                </a:solidFill>
                <a:latin typeface="Poppins"/>
              </a:rPr>
              <a:t>Model dinamike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53328" y="2807208"/>
            <a:ext cx="2194560" cy="329184"/>
          </a:xfrm>
          <a:prstGeom prst="roundRect">
            <a:avLst>
              <a:gd name="adj" fmla="val 1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53328" y="2807208"/>
            <a:ext cx="21945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A4763"/>
                </a:solidFill>
                <a:latin typeface="Consolas"/>
              </a:rPr>
              <a:t>Model_Lifta.vi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3246120"/>
            <a:ext cx="221284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C7688"/>
                </a:solidFill>
                <a:latin typeface="Calibri"/>
              </a:rPr>
              <a:t>Simulacija fizike lifta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8" y="4041647"/>
            <a:ext cx="7644383" cy="457200"/>
          </a:xfrm>
          <a:prstGeom prst="roundRect">
            <a:avLst>
              <a:gd name="adj" fmla="val 40000"/>
            </a:avLst>
          </a:prstGeom>
          <a:solidFill>
            <a:srgbClr val="17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9808" y="4041647"/>
            <a:ext cx="76443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9832F"/>
                </a:solidFill>
                <a:latin typeface="Calibri"/>
              </a:rPr>
              <a:t>◄  </a:t>
            </a:r>
            <a:r>
              <a:rPr sz="1150" b="1" i="0">
                <a:solidFill>
                  <a:srgbClr val="FFFFFF"/>
                </a:solidFill>
                <a:latin typeface="Poppins"/>
              </a:rPr>
              <a:t>Mrežne deljene promenljive</a:t>
            </a:r>
            <a:r>
              <a:rPr sz="1050" b="0" i="0">
                <a:solidFill>
                  <a:srgbClr val="AEBBD0"/>
                </a:solidFill>
                <a:latin typeface="Calibri"/>
              </a:rPr>
              <a:t>   :   Lift_Promenljive.lvlib   (mrežni kabl cRIO ↔ sbRIO)   </a:t>
            </a:r>
            <a:r>
              <a:rPr sz="1100" b="1" i="0">
                <a:solidFill>
                  <a:srgbClr val="D9832F"/>
                </a:solidFill>
                <a:latin typeface="Calibri"/>
              </a:rPr>
              <a:t>  ►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993392" y="3840479"/>
            <a:ext cx="0" cy="201168"/>
          </a:xfrm>
          <a:prstGeom prst="line">
            <a:avLst/>
          </a:prstGeom>
          <a:ln w="15240">
            <a:solidFill>
              <a:srgbClr val="6C76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572000" y="3840479"/>
            <a:ext cx="0" cy="201168"/>
          </a:xfrm>
          <a:prstGeom prst="line">
            <a:avLst/>
          </a:prstGeom>
          <a:ln w="15240">
            <a:solidFill>
              <a:srgbClr val="6C76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50608" y="3840479"/>
            <a:ext cx="0" cy="201168"/>
          </a:xfrm>
          <a:prstGeom prst="line">
            <a:avLst/>
          </a:prstGeom>
          <a:ln w="15240">
            <a:solidFill>
              <a:srgbClr val="6C76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LIFT_PROMENLJIVE.LVLIB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Deljene promenljive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371600"/>
            <a:ext cx="5074920" cy="342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9536" y="13716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Poppins"/>
              </a:rPr>
              <a:t>Naziv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9736" y="13716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Poppins"/>
              </a:rPr>
              <a:t>Tip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1296" y="13716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Poppins"/>
              </a:rPr>
              <a:t>Upisuje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5736" y="13716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Poppins"/>
              </a:rPr>
              <a:t>Čita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1714500"/>
            <a:ext cx="5074920" cy="3429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17145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9736" y="17145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Double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17145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Automat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17145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0574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9736" y="20574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Double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1296" y="20574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5736" y="20574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Automat, Panel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2400300"/>
            <a:ext cx="5074920" cy="3429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9536" y="24003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Stop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59736" y="24003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Boolean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1296" y="24003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Automat, Panel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45736" y="24003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Model, Automat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27432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CiljniSprat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59736" y="27432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Double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11296" y="27432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Panel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45736" y="27432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Automat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3086100"/>
            <a:ext cx="5074920" cy="3429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9536" y="30861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AutomatUMoving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9736" y="30861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Boolean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11296" y="30861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Automat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45736" y="30861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" y="34290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TrenutnoStanje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59736" y="34290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U8 (0-3)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11296" y="34290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Automat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45736" y="34290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Panel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" y="3771900"/>
            <a:ext cx="5074920" cy="3429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9536" y="37719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LiftPozvan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59736" y="37719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Boolean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11296" y="37719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Panel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45736" y="37719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Panel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" y="4114800"/>
            <a:ext cx="147218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Consolas"/>
              </a:rPr>
              <a:t>SmerPoziva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59736" y="4114800"/>
            <a:ext cx="92354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Boolean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11296" y="4114800"/>
            <a:ext cx="110642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Panel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45736" y="4114800"/>
            <a:ext cx="106070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3A4763"/>
                </a:solidFill>
                <a:latin typeface="Calibri"/>
              </a:rPr>
              <a:t>Panel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49808" y="4457700"/>
            <a:ext cx="5074920" cy="0"/>
          </a:xfrm>
          <a:prstGeom prst="line">
            <a:avLst/>
          </a:prstGeom>
          <a:ln w="12700">
            <a:solidFill>
              <a:srgbClr val="D9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126480" y="1371600"/>
            <a:ext cx="2286000" cy="3108960"/>
          </a:xfrm>
          <a:prstGeom prst="roundRect">
            <a:avLst>
              <a:gd name="adj" fmla="val 5000"/>
            </a:avLst>
          </a:prstGeom>
          <a:solidFill>
            <a:srgbClr val="E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327648" y="1572768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A5A62"/>
                </a:solidFill>
                <a:latin typeface="Poppins"/>
              </a:rPr>
              <a:t>Zašto je bitno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7648" y="2011680"/>
            <a:ext cx="19202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A4763"/>
                </a:solidFill>
                <a:latin typeface="Calibri"/>
              </a:rPr>
              <a:t>Server pamti poslednju vrednost: svaki VI pri startu upisuje podrazumevanu vrednost za Stop i CiljniSprat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A4763"/>
                </a:solidFill>
                <a:latin typeface="Calibri"/>
              </a:rPr>
              <a:t>Inače bi sistem mogao ostati trajno zaključan u Shutdown-u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A4763"/>
                </a:solidFill>
                <a:latin typeface="Calibri"/>
              </a:rPr>
              <a:t>x više ne živi u shift-registru, čita se sa mreže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SISTEM PRVOG REDA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Model dinamike lifta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716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C7688"/>
                </a:solidFill>
                <a:latin typeface="Poppins"/>
              </a:rPr>
              <a:t>Kontinualni model: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64208"/>
            <a:ext cx="4572000" cy="548640"/>
          </a:xfrm>
          <a:prstGeom prst="roundRect">
            <a:avLst>
              <a:gd name="adj" fmla="val 10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7223B"/>
                </a:solidFill>
                <a:latin typeface="Consolas"/>
              </a:rPr>
              <a:t>T · (dx/dt) + x = K · 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957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C7688"/>
                </a:solidFill>
                <a:latin typeface="Poppins"/>
              </a:rPr>
              <a:t>Diskretizacija (Euler forward, korak Ts):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688336"/>
            <a:ext cx="4572000" cy="548640"/>
          </a:xfrm>
          <a:prstGeom prst="roundRect">
            <a:avLst>
              <a:gd name="adj" fmla="val 10000"/>
            </a:avLst>
          </a:prstGeom>
          <a:solidFill>
            <a:srgbClr val="E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268833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A5A62"/>
                </a:solidFill>
                <a:latin typeface="Consolas"/>
              </a:rPr>
              <a:t>x[k+1] = x[k] + (Ts/T)·(K·u[k] − x[k])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5643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C7688"/>
                </a:solidFill>
                <a:latin typeface="Poppins"/>
              </a:rPr>
              <a:t>Usvojeni parametri: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749039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3749039"/>
            <a:ext cx="13716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7C86"/>
                </a:solidFill>
                <a:latin typeface="Consolas"/>
              </a:rPr>
              <a:t>Ts = 0.1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22576" y="3749039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22576" y="3749039"/>
            <a:ext cx="13716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7C86"/>
                </a:solidFill>
                <a:latin typeface="Consolas"/>
              </a:rPr>
              <a:t>T =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95344" y="3749039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D98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95344" y="3749039"/>
            <a:ext cx="13716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9832F"/>
                </a:solidFill>
                <a:latin typeface="Consolas"/>
              </a:rPr>
              <a:t>K = 0.55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371600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7223B"/>
                </a:solidFill>
                <a:latin typeface="Poppins"/>
              </a:rPr>
              <a:t>Rešeni problemi u razvoju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23560" y="1691640"/>
            <a:ext cx="2971800" cy="1188720"/>
          </a:xfrm>
          <a:prstGeom prst="roundRect">
            <a:avLst>
              <a:gd name="adj" fmla="val 7000"/>
            </a:avLst>
          </a:prstGeom>
          <a:solidFill>
            <a:srgbClr val="FBEEDD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769864" y="1856232"/>
            <a:ext cx="384048" cy="384048"/>
          </a:xfrm>
          <a:prstGeom prst="ellipse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69864" y="185623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Poppins"/>
              </a:rPr>
              <a:t>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5352" y="1837944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7223B"/>
                </a:solidFill>
                <a:latin typeface="Poppins"/>
              </a:rPr>
              <a:t>Konstanta 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2167128"/>
            <a:ext cx="2240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A4763"/>
                </a:solidFill>
                <a:latin typeface="Calibri"/>
              </a:rPr>
              <a:t>Dodata naknadno da ublaži nagli skok upravljačkog signala kada je lift daleko od cilja.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2999232"/>
            <a:ext cx="2971800" cy="1188720"/>
          </a:xfrm>
          <a:prstGeom prst="roundRect">
            <a:avLst>
              <a:gd name="adj" fmla="val 7000"/>
            </a:avLst>
          </a:prstGeom>
          <a:solidFill>
            <a:srgbClr val="FBE9E4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769864" y="3163824"/>
            <a:ext cx="384048" cy="384048"/>
          </a:xfrm>
          <a:prstGeom prst="ellipse">
            <a:avLst/>
          </a:prstGeom>
          <a:solidFill>
            <a:srgbClr val="CF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9864" y="31638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Poppins"/>
              </a:rPr>
              <a:t>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3145536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7223B"/>
                </a:solidFill>
                <a:latin typeface="Poppins"/>
              </a:rPr>
              <a:t>„Curenje“ pozicije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52" y="3474720"/>
            <a:ext cx="2240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A4763"/>
                </a:solidFill>
                <a:latin typeface="Calibri"/>
              </a:rPr>
              <a:t>Pri u=0 formula je vukla x ka nuli. Rešeno promenljivom AutomatUMoving: formula radi samo u stanju Moving.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POSTAVLJANJE POLOVA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Regulacija pozicije (PI regulator)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371600"/>
            <a:ext cx="7644383" cy="566928"/>
          </a:xfrm>
          <a:prstGeom prst="roundRect">
            <a:avLst>
              <a:gd name="adj" fmla="val 10000"/>
            </a:avLst>
          </a:prstGeom>
          <a:solidFill>
            <a:srgbClr val="E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371600"/>
            <a:ext cx="7644383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A5A62"/>
                </a:solidFill>
                <a:latin typeface="Consolas"/>
              </a:rPr>
              <a:t>u = Kp·e + Ki·I        I[k+1] = I[k] + Ts·e[k]        e = CiljniSprat − 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76443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C7688"/>
                </a:solidFill>
                <a:latin typeface="Calibri"/>
              </a:rPr>
              <a:t>D član nije uveden: za sistem ovog reda PI dovoljno eliminiše grešku bez oscilacija.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487168"/>
            <a:ext cx="3794760" cy="22128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615184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7223B"/>
                </a:solidFill>
                <a:latin typeface="Poppins"/>
              </a:rPr>
              <a:t>Postavljanje polova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962656"/>
            <a:ext cx="3456432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98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980" b="0" i="0">
                <a:solidFill>
                  <a:srgbClr val="3A4763"/>
                </a:solidFill>
                <a:latin typeface="Calibri"/>
              </a:rPr>
              <a:t>Ne biramo Kp i Ki probom, već unapred zadamo željeno ponašanje zatvorene petlje (njene polove).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98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980" b="0" i="0">
                <a:solidFill>
                  <a:srgbClr val="3A4763"/>
                </a:solidFill>
                <a:latin typeface="Calibri"/>
              </a:rPr>
              <a:t>Iz tog uslova se pojačanja izračunaju analitički.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98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980" b="0" i="0">
                <a:solidFill>
                  <a:srgbClr val="3A4763"/>
                </a:solidFill>
                <a:latin typeface="Calibri"/>
              </a:rPr>
              <a:t>Birani su razmaknuti realni polovi: stabilno, bez preskakanja cilja.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224528"/>
            <a:ext cx="3429000" cy="384048"/>
          </a:xfrm>
          <a:prstGeom prst="roundRect">
            <a:avLst>
              <a:gd name="adj" fmla="val 30000"/>
            </a:avLst>
          </a:prstGeom>
          <a:solidFill>
            <a:srgbClr val="FB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4224528"/>
            <a:ext cx="3429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Poppins"/>
              </a:rPr>
              <a:t>Usvojeno:   </a:t>
            </a:r>
            <a:r>
              <a:rPr sz="1100" b="1" i="0">
                <a:solidFill>
                  <a:srgbClr val="D9832F"/>
                </a:solidFill>
                <a:latin typeface="Consolas"/>
              </a:rPr>
              <a:t>Kp = 5.5     Ki = 1.3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4871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7223B"/>
                </a:solidFill>
                <a:latin typeface="Poppins"/>
              </a:rPr>
              <a:t>Histereza pri promeni stanja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0" y="2816352"/>
            <a:ext cx="3593592" cy="566928"/>
          </a:xfrm>
          <a:prstGeom prst="roundRect">
            <a:avLst>
              <a:gd name="adj" fmla="val 9000"/>
            </a:avLst>
          </a:prstGeom>
          <a:solidFill>
            <a:srgbClr val="E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46904" y="2816352"/>
            <a:ext cx="3383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Poppins"/>
              </a:rPr>
              <a:t>Idle → Moving</a:t>
            </a:r>
            <a:r>
              <a:rPr sz="1050" b="1" i="0">
                <a:solidFill>
                  <a:srgbClr val="3F9E7C"/>
                </a:solidFill>
                <a:latin typeface="Consolas"/>
              </a:rPr>
              <a:t>   kada  |e| &gt; 0.8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3456432"/>
            <a:ext cx="3593592" cy="566928"/>
          </a:xfrm>
          <a:prstGeom prst="roundRect">
            <a:avLst>
              <a:gd name="adj" fmla="val 9000"/>
            </a:avLst>
          </a:prstGeom>
          <a:solidFill>
            <a:srgbClr val="FB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46904" y="3456432"/>
            <a:ext cx="3383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7223B"/>
                </a:solidFill>
                <a:latin typeface="Poppins"/>
              </a:rPr>
              <a:t>Moving → DoorOpen</a:t>
            </a:r>
            <a:r>
              <a:rPr sz="1050" b="1" i="0">
                <a:solidFill>
                  <a:srgbClr val="D9832F"/>
                </a:solidFill>
                <a:latin typeface="Consolas"/>
              </a:rPr>
              <a:t>   kada  |e| &lt; 0.05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0" y="4114800"/>
            <a:ext cx="3593592" cy="475488"/>
          </a:xfrm>
          <a:prstGeom prst="roundRect">
            <a:avLst>
              <a:gd name="adj" fmla="val 9000"/>
            </a:avLst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46904" y="4114800"/>
            <a:ext cx="33832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F5340"/>
                </a:solidFill>
                <a:latin typeface="Calibri"/>
              </a:rPr>
              <a:t>⚠ </a:t>
            </a:r>
            <a:r>
              <a:rPr sz="930" b="0" i="0">
                <a:solidFill>
                  <a:srgbClr val="3A4763"/>
                </a:solidFill>
                <a:latin typeface="Calibri"/>
              </a:rPr>
              <a:t>Provera mora koristiti |e|: bez apsolutne vrednosti lift se kretao samo u jednom smeru.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STANJA I PRELAZI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Automat stanja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243584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3A4763"/>
                </a:solidFill>
                <a:latin typeface="Calibri"/>
              </a:rPr>
              <a:t>Lift prolazi kroz četiri stanja; Guard Clause može u svakom trenutku da presretne tok i povede sistem u Shutdown.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965960"/>
            <a:ext cx="1965960" cy="914400"/>
          </a:xfrm>
          <a:prstGeom prst="roundRect">
            <a:avLst>
              <a:gd name="adj" fmla="val 9000"/>
            </a:avLst>
          </a:prstGeom>
          <a:solidFill>
            <a:srgbClr val="E6F3EC"/>
          </a:solidFill>
          <a:ln w="17780">
            <a:solidFill>
              <a:srgbClr val="3F9E7C"/>
            </a:solidFill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2075688"/>
            <a:ext cx="17099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3F9E7C"/>
                </a:solidFill>
                <a:latin typeface="Poppins"/>
              </a:rPr>
              <a:t>Idle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423160"/>
            <a:ext cx="17099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30" b="0" i="0">
                <a:solidFill>
                  <a:srgbClr val="3A4763"/>
                </a:solidFill>
                <a:latin typeface="Calibri"/>
              </a:rPr>
              <a:t>Čekanje na novi poziv;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30" b="0" i="0">
                <a:solidFill>
                  <a:srgbClr val="3A4763"/>
                </a:solidFill>
                <a:latin typeface="Calibri"/>
              </a:rPr>
              <a:t>integralna suma →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1965960"/>
            <a:ext cx="1965960" cy="914400"/>
          </a:xfrm>
          <a:prstGeom prst="roundRect">
            <a:avLst>
              <a:gd name="adj" fmla="val 9000"/>
            </a:avLst>
          </a:prstGeom>
          <a:solidFill>
            <a:srgbClr val="E7F3F4"/>
          </a:solidFill>
          <a:ln w="17780">
            <a:solidFill>
              <a:srgbClr val="0E7C86"/>
            </a:solidFill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91256" y="2075688"/>
            <a:ext cx="17099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7C86"/>
                </a:solidFill>
                <a:latin typeface="Poppins"/>
              </a:rPr>
              <a:t>Moving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91256" y="2423160"/>
            <a:ext cx="17099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30" b="0" i="0">
                <a:solidFill>
                  <a:srgbClr val="3A4763"/>
                </a:solidFill>
                <a:latin typeface="Calibri"/>
              </a:rPr>
              <a:t>Kretanje ka cilju;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30" b="0" i="0">
                <a:solidFill>
                  <a:srgbClr val="3A4763"/>
                </a:solidFill>
                <a:latin typeface="Calibri"/>
              </a:rPr>
              <a:t>PI regulator aktivan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76672" y="1965960"/>
            <a:ext cx="1965960" cy="914400"/>
          </a:xfrm>
          <a:prstGeom prst="roundRect">
            <a:avLst>
              <a:gd name="adj" fmla="val 9000"/>
            </a:avLst>
          </a:prstGeom>
          <a:solidFill>
            <a:srgbClr val="FBEEDD"/>
          </a:solidFill>
          <a:ln w="17780">
            <a:solidFill>
              <a:srgbClr val="D9832F"/>
            </a:solidFill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04688" y="2075688"/>
            <a:ext cx="17099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9A5A16"/>
                </a:solidFill>
                <a:latin typeface="Poppins"/>
              </a:rPr>
              <a:t>DoorOpen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2423160"/>
            <a:ext cx="17099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30" b="0" i="0">
                <a:solidFill>
                  <a:srgbClr val="3A4763"/>
                </a:solidFill>
                <a:latin typeface="Calibri"/>
              </a:rPr>
              <a:t>Lift stigao, vrata otvorena;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30" b="0" i="0">
                <a:solidFill>
                  <a:srgbClr val="3A4763"/>
                </a:solidFill>
                <a:latin typeface="Calibri"/>
              </a:rPr>
              <a:t>tajmer 5 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15768" y="2423160"/>
            <a:ext cx="347472" cy="0"/>
          </a:xfrm>
          <a:prstGeom prst="line">
            <a:avLst/>
          </a:prstGeom>
          <a:ln w="20320">
            <a:solidFill>
              <a:srgbClr val="6C76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29200" y="2423160"/>
            <a:ext cx="347472" cy="0"/>
          </a:xfrm>
          <a:prstGeom prst="line">
            <a:avLst/>
          </a:prstGeom>
          <a:ln w="20320">
            <a:solidFill>
              <a:srgbClr val="6C76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355080" y="1709928"/>
            <a:ext cx="0" cy="256032"/>
          </a:xfrm>
          <a:prstGeom prst="line">
            <a:avLst/>
          </a:prstGeom>
          <a:ln w="16510">
            <a:solidFill>
              <a:srgbClr val="6C76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737360" y="1709928"/>
            <a:ext cx="4617720" cy="0"/>
          </a:xfrm>
          <a:prstGeom prst="line">
            <a:avLst/>
          </a:prstGeom>
          <a:ln w="16510">
            <a:solidFill>
              <a:srgbClr val="6C76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737360" y="1709928"/>
            <a:ext cx="0" cy="256032"/>
          </a:xfrm>
          <a:prstGeom prst="line">
            <a:avLst/>
          </a:prstGeom>
          <a:ln w="16510">
            <a:solidFill>
              <a:srgbClr val="6C76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08960" y="1463039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1">
                <a:solidFill>
                  <a:srgbClr val="6C7688"/>
                </a:solidFill>
                <a:latin typeface="Calibri"/>
              </a:rPr>
              <a:t>po isteku tajmera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383280"/>
            <a:ext cx="462686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CF5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3502152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F5340"/>
                </a:solidFill>
                <a:latin typeface="Poppins"/>
              </a:rPr>
              <a:t>Guard Clause</a:t>
            </a:r>
            <a:r>
              <a:rPr sz="1000" b="0" i="1">
                <a:solidFill>
                  <a:srgbClr val="6C7688"/>
                </a:solidFill>
                <a:latin typeface="Calibri"/>
              </a:rPr>
              <a:t>  :  nadređeni bezbednosni sloj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03904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3A4763"/>
                </a:solidFill>
                <a:latin typeface="Calibri"/>
              </a:rPr>
              <a:t>uslov (Stop ILI greška) → sledeće stanje se prisilno postavlja na Shutdown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76672" y="3776472"/>
            <a:ext cx="475488" cy="0"/>
          </a:xfrm>
          <a:prstGeom prst="line">
            <a:avLst/>
          </a:prstGeom>
          <a:ln w="22860">
            <a:solidFill>
              <a:srgbClr val="CF534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870448" y="3383280"/>
            <a:ext cx="2523744" cy="786384"/>
          </a:xfrm>
          <a:prstGeom prst="roundRect">
            <a:avLst>
              <a:gd name="adj" fmla="val 9000"/>
            </a:avLst>
          </a:prstGeom>
          <a:solidFill>
            <a:srgbClr val="CF5340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70448" y="3474720"/>
            <a:ext cx="25237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Poppins"/>
              </a:rPr>
              <a:t>Shutdown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3813048"/>
            <a:ext cx="234086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BE0DA"/>
                </a:solidFill>
                <a:latin typeface="Calibri"/>
              </a:rPr>
              <a:t>kontrolisan prekid petlje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AUTOMAT · IMPLEMENTACIJA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Kako automat 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71600"/>
            <a:ext cx="4160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Jedna While petlja: kroz shift-registre se nose trenutno stanje i integralna suma regulatora.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7223B"/>
                </a:solidFill>
                <a:latin typeface="Calibri"/>
              </a:rPr>
              <a:t>U HIL verziji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poziciju x automat ne pamti lokalno, već je čita sa mreže (održava je model).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7223B"/>
                </a:solidFill>
                <a:latin typeface="Calibri"/>
              </a:rPr>
              <a:t>Svaka iteracija: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pročita stanje, pa glavna Case struktura izvrši logiku tog stanja (računa upravljanje u i predlaže sledeće stanje).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Guard Clause presreće predlog: ako je Stop ili greška, sledeće stanje se prisilno menja u Shutdown.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7223B"/>
                </a:solidFill>
                <a:latin typeface="Calibri"/>
              </a:rPr>
              <a:t>Izabrano stanje se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upiše u shift-registar za narednu iteraciju petlje.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371600"/>
            <a:ext cx="3337560" cy="315468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651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40780" y="2002536"/>
            <a:ext cx="1005840" cy="749808"/>
          </a:xfrm>
          <a:prstGeom prst="roundRect">
            <a:avLst>
              <a:gd name="adj" fmla="val 8000"/>
            </a:avLst>
          </a:prstGeom>
          <a:solidFill>
            <a:srgbClr val="DCE3EA"/>
          </a:solidFill>
          <a:ln w="15240">
            <a:solidFill>
              <a:srgbClr val="6C76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496812" y="2148840"/>
            <a:ext cx="201168" cy="201168"/>
          </a:xfrm>
          <a:prstGeom prst="ellipse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/>
          <p:cNvSpPr/>
          <p:nvPr/>
        </p:nvSpPr>
        <p:spPr>
          <a:xfrm>
            <a:off x="6579108" y="2331720"/>
            <a:ext cx="640080" cy="365760"/>
          </a:xfrm>
          <a:prstGeom prst="triangl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57800" y="3264408"/>
            <a:ext cx="2971800" cy="11987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7223B"/>
                </a:solidFill>
                <a:latin typeface="Poppins"/>
              </a:rPr>
              <a:t>Ovde ubaci: Slika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C7688"/>
                </a:solidFill>
                <a:latin typeface="Calibri"/>
              </a:rPr>
              <a:t>Glavna Case struktura (Moving)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C7688"/>
                </a:solidFill>
                <a:latin typeface="Calibri"/>
              </a:rPr>
              <a:t>i Guard Clause 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C7688"/>
                </a:solidFill>
                <a:latin typeface="Calibri"/>
              </a:rPr>
              <a:t>Automat_Lift_sbRIO.vi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FRONT PANEL · PC_HMI_LIFT.VI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Korisnički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17320"/>
            <a:ext cx="41148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7223B"/>
                </a:solidFill>
                <a:latin typeface="Calibri"/>
              </a:rPr>
              <a:t>6 dugmadi za izbor sprata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iznutra (0-5) i 10 spoljašnjih poziva (gore/dole po spratu).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7223B"/>
                </a:solidFill>
                <a:latin typeface="Calibri"/>
              </a:rPr>
              <a:t>Unutrašnja dugmad su aktivna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tek nakon poziva spolja, i samo u smeru tog poziva: sprečene su besmislene kombinacije.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7223B"/>
                </a:solidFill>
                <a:latin typeface="Calibri"/>
              </a:rPr>
              <a:t>Glavni grafik prikazuje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tačnu, neprekidnu poziciju lifta (Meter).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7223B"/>
                </a:solidFill>
                <a:latin typeface="Calibri"/>
              </a:rPr>
              <a:t>Kretanje kroz spratove prati i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vizuelni indikator vezan za zaokruženu poziciju.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7223B"/>
                </a:solidFill>
                <a:latin typeface="Calibri"/>
              </a:rPr>
              <a:t>Četiri LED indikatora (Idle, Moving, DoorOpen, Shutdown): </a:t>
            </a:r>
            <a:r>
              <a:rPr sz="1050" b="0" i="0">
                <a:solidFill>
                  <a:srgbClr val="3A4763"/>
                </a:solidFill>
                <a:latin typeface="Calibri"/>
              </a:rPr>
              <a:t>u svakom trenutku svetli tačno jedan.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417320"/>
            <a:ext cx="3337560" cy="310896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651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40780" y="2039112"/>
            <a:ext cx="1005840" cy="749808"/>
          </a:xfrm>
          <a:prstGeom prst="roundRect">
            <a:avLst>
              <a:gd name="adj" fmla="val 8000"/>
            </a:avLst>
          </a:prstGeom>
          <a:solidFill>
            <a:srgbClr val="DCE3EA"/>
          </a:solidFill>
          <a:ln w="15240">
            <a:solidFill>
              <a:srgbClr val="6C76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496812" y="2185416"/>
            <a:ext cx="201168" cy="201168"/>
          </a:xfrm>
          <a:prstGeom prst="ellipse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/>
          <p:cNvSpPr/>
          <p:nvPr/>
        </p:nvSpPr>
        <p:spPr>
          <a:xfrm>
            <a:off x="6579108" y="2368296"/>
            <a:ext cx="640080" cy="365760"/>
          </a:xfrm>
          <a:prstGeom prst="triangl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57800" y="3282696"/>
            <a:ext cx="2971800" cy="1181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7223B"/>
                </a:solidFill>
                <a:latin typeface="Poppins"/>
              </a:rPr>
              <a:t>Ovde ubaci: Slika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C7688"/>
                </a:solidFill>
                <a:latin typeface="Calibri"/>
              </a:rPr>
              <a:t>Front panel PC_HMI_Lift.vi: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C7688"/>
                </a:solidFill>
                <a:latin typeface="Calibri"/>
              </a:rPr>
              <a:t>dugmad, grafik pozicije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C7688"/>
                </a:solidFill>
                <a:latin typeface="Calibri"/>
              </a:rPr>
              <a:t>i LED indikatori stanja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KORISNIČKI PANEL · IMPLEMENTACIJA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Kako panel 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17320"/>
            <a:ext cx="41148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7223B"/>
                </a:solidFill>
                <a:latin typeface="Calibri"/>
              </a:rPr>
              <a:t>Panel čine </a:t>
            </a:r>
            <a:r>
              <a:rPr sz="1100" b="0" i="0">
                <a:solidFill>
                  <a:srgbClr val="3A4763"/>
                </a:solidFill>
                <a:latin typeface="Calibri"/>
              </a:rPr>
              <a:t>dve nezavisne petlje koje rade paralelno.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A4763"/>
                </a:solidFill>
                <a:latin typeface="Calibri"/>
              </a:rPr>
              <a:t>Petlja sa Event strukturom: reaguje isključivo na klikove i upisuje odgovarajuće komande na mrežu (CiljniSprat, poziv, smer, Stop).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A4763"/>
                </a:solidFill>
                <a:latin typeface="Calibri"/>
              </a:rPr>
              <a:t>Petlja za osvežavanje: bez Event strukture, neprekidno čita poziciju i stanje sa mreže i osvežava grafik i LED indikatore.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7223B"/>
                </a:solidFill>
                <a:latin typeface="Calibri"/>
              </a:rPr>
              <a:t>Zašto dve petlje: </a:t>
            </a:r>
            <a:r>
              <a:rPr sz="1100" b="0" i="0">
                <a:solidFill>
                  <a:srgbClr val="3A4763"/>
                </a:solidFill>
                <a:latin typeface="Calibri"/>
              </a:rPr>
              <a:t>prikaz ostaje gladak i ažuran u realnom vremenu, nezavisno od toga da li korisnik u tom trenutku klika.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417320"/>
            <a:ext cx="3337560" cy="310896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651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40780" y="2039112"/>
            <a:ext cx="1005840" cy="749808"/>
          </a:xfrm>
          <a:prstGeom prst="roundRect">
            <a:avLst>
              <a:gd name="adj" fmla="val 8000"/>
            </a:avLst>
          </a:prstGeom>
          <a:solidFill>
            <a:srgbClr val="DCE3EA"/>
          </a:solidFill>
          <a:ln w="15240">
            <a:solidFill>
              <a:srgbClr val="6C76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496812" y="2185416"/>
            <a:ext cx="201168" cy="201168"/>
          </a:xfrm>
          <a:prstGeom prst="ellipse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/>
          <p:cNvSpPr/>
          <p:nvPr/>
        </p:nvSpPr>
        <p:spPr>
          <a:xfrm>
            <a:off x="6579108" y="2368296"/>
            <a:ext cx="640080" cy="365760"/>
          </a:xfrm>
          <a:prstGeom prst="triangl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57800" y="3282696"/>
            <a:ext cx="2971800" cy="1181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7223B"/>
                </a:solidFill>
                <a:latin typeface="Poppins"/>
              </a:rPr>
              <a:t>Ovde ubaci: Slika 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C7688"/>
                </a:solidFill>
                <a:latin typeface="Calibri"/>
              </a:rPr>
              <a:t>Block dijagram PC_HMI_Lift.vi: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C7688"/>
                </a:solidFill>
                <a:latin typeface="Calibri"/>
              </a:rPr>
              <a:t>Event struktura za dugmad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C7688"/>
                </a:solidFill>
                <a:latin typeface="Calibri"/>
              </a:rPr>
              <a:t>i petlja za osvežavanje prikaza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02336"/>
            <a:ext cx="128016" cy="384048"/>
          </a:xfrm>
          <a:prstGeom prst="roundRect">
            <a:avLst>
              <a:gd name="adj" fmla="val 3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36576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Poppins"/>
              </a:rPr>
              <a:t>KONTROLISANO GAŠENJE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7223B"/>
                </a:solidFill>
                <a:latin typeface="Poppins"/>
              </a:rPr>
              <a:t>Bezbednost i završetak programa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47548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8"/>
                </a:solidFill>
                <a:latin typeface="Poppin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17320"/>
            <a:ext cx="41605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7223B"/>
                </a:solidFill>
                <a:latin typeface="Calibri"/>
              </a:rPr>
              <a:t>Sistem se zaustavlja preko </a:t>
            </a:r>
            <a:r>
              <a:rPr sz="1150" b="0" i="0">
                <a:solidFill>
                  <a:srgbClr val="3A4763"/>
                </a:solidFill>
                <a:latin typeface="Calibri"/>
              </a:rPr>
              <a:t>Guard Clause mehanizma: pritiskom na Stop ili usled greške automat prelazi u Shutdown.</a:t>
            </a:r>
          </a:p>
          <a:p>
            <a:pPr>
              <a:lnSpc>
                <a:spcPct val="107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7223B"/>
                </a:solidFill>
                <a:latin typeface="Calibri"/>
              </a:rPr>
              <a:t>Petlja se prekida </a:t>
            </a:r>
            <a:r>
              <a:rPr sz="1150" b="0" i="0">
                <a:solidFill>
                  <a:srgbClr val="3A4763"/>
                </a:solidFill>
                <a:latin typeface="Calibri"/>
              </a:rPr>
              <a:t>kontrolisano, bez naglog gašenja.</a:t>
            </a:r>
          </a:p>
          <a:p>
            <a:pPr>
              <a:lnSpc>
                <a:spcPct val="107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0E7C86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7223B"/>
                </a:solidFill>
                <a:latin typeface="Calibri"/>
              </a:rPr>
              <a:t>Deljene promenljive ostaju </a:t>
            </a:r>
            <a:r>
              <a:rPr sz="1150" b="0" i="0">
                <a:solidFill>
                  <a:srgbClr val="3A4763"/>
                </a:solidFill>
                <a:latin typeface="Calibri"/>
              </a:rPr>
              <a:t>konzistentne: pošto server pamti poslednju vrednost, Shutdown prvo postavi u = 0 i zaustavi kretanje, pa se tek onda petlja gasi, da na mreži ne ostanu zaostale (npr. u različito od nule) ili protivrečne vrednosti.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417320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BE9E4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0" y="1417320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F5340"/>
                </a:solidFill>
                <a:latin typeface="Poppins"/>
              </a:rPr>
              <a:t>Stop  ILI  greška</a:t>
            </a:r>
          </a:p>
        </p:txBody>
      </p:sp>
      <p:sp>
        <p:nvSpPr>
          <p:cNvPr id="10" name="Chevron 9"/>
          <p:cNvSpPr/>
          <p:nvPr/>
        </p:nvSpPr>
        <p:spPr>
          <a:xfrm rot="5400000">
            <a:off x="6620255" y="2029967"/>
            <a:ext cx="292608" cy="201168"/>
          </a:xfrm>
          <a:prstGeom prst="chevron">
            <a:avLst/>
          </a:prstGeom>
          <a:solidFill>
            <a:srgbClr val="6C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120640" y="2240280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0" y="2240280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7223B"/>
                </a:solidFill>
                <a:latin typeface="Poppins"/>
              </a:rPr>
              <a:t>Guard Clause hvata uslov</a:t>
            </a:r>
          </a:p>
        </p:txBody>
      </p:sp>
      <p:sp>
        <p:nvSpPr>
          <p:cNvPr id="13" name="Chevron 12"/>
          <p:cNvSpPr/>
          <p:nvPr/>
        </p:nvSpPr>
        <p:spPr>
          <a:xfrm rot="5400000">
            <a:off x="6620255" y="2852928"/>
            <a:ext cx="292608" cy="201168"/>
          </a:xfrm>
          <a:prstGeom prst="chevron">
            <a:avLst/>
          </a:prstGeom>
          <a:solidFill>
            <a:srgbClr val="6C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20640" y="3063240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BE9E4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0" y="3063240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F5340"/>
                </a:solidFill>
                <a:latin typeface="Poppins"/>
              </a:rPr>
              <a:t>Shutdown: u = 0, kretanje stoji</a:t>
            </a:r>
          </a:p>
        </p:txBody>
      </p:sp>
      <p:sp>
        <p:nvSpPr>
          <p:cNvPr id="16" name="Chevron 15"/>
          <p:cNvSpPr/>
          <p:nvPr/>
        </p:nvSpPr>
        <p:spPr>
          <a:xfrm rot="5400000">
            <a:off x="6620255" y="3675887"/>
            <a:ext cx="292608" cy="201168"/>
          </a:xfrm>
          <a:prstGeom prst="chevron">
            <a:avLst/>
          </a:prstGeom>
          <a:solidFill>
            <a:srgbClr val="6C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120640" y="3886200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E6F3EC"/>
          </a:solidFill>
          <a:ln>
            <a:noFill/>
          </a:ln>
          <a:effectLst>
            <a:outerShdw blurRad="90000" dist="38100" dir="5400000" rotWithShape="0">
              <a:srgbClr val="9BA6B2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03520" y="3886200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9E7C"/>
                </a:solidFill>
                <a:latin typeface="Poppins"/>
              </a:rPr>
              <a:t>Bezbedan, konzistentan izlaz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7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502920"/>
            <a:ext cx="128016" cy="457200"/>
          </a:xfrm>
          <a:prstGeom prst="roundRect">
            <a:avLst>
              <a:gd name="adj" fmla="val 35000"/>
            </a:avLst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9832F"/>
                </a:solidFill>
                <a:latin typeface="Poppins"/>
              </a:rPr>
              <a:t>ZAKLJUČAK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7680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Poppins"/>
              </a:rPr>
              <a:t>Od modela do raspoređenog hardvera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C7D2E2"/>
                </a:solidFill>
                <a:latin typeface="Calibri"/>
              </a:rPr>
              <a:t>Projekat je pokazao ceo put: matematički model → analitički podešen regulator → funkcionalan automat → raspodela na realan, mrežno povezan hardver.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21284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Poppins"/>
              </a:rPr>
              <a:t>Tipične zamke prelaska na raspoređeni sistem i njihova rešenja: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578608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1E2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32688" y="2743200"/>
            <a:ext cx="420624" cy="420624"/>
          </a:xfrm>
          <a:prstGeom prst="ellipse">
            <a:avLst/>
          </a:prstGeom>
          <a:solidFill>
            <a:srgbClr val="CF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2743200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236976"/>
            <a:ext cx="20848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Poppins"/>
              </a:rPr>
              <a:t>Asimetrija kretanja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66160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 i="0">
                <a:solidFill>
                  <a:srgbClr val="AEBBD0"/>
                </a:solidFill>
                <a:latin typeface="Calibri"/>
              </a:rPr>
              <a:t>Bez apsolutne vrednosti greške lift se kretao samo u jednom smeru; provera |e| to rešava.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6704" y="2578608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1E2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29584" y="2743200"/>
            <a:ext cx="420624" cy="420624"/>
          </a:xfrm>
          <a:prstGeom prst="ellipse">
            <a:avLst/>
          </a:prstGeom>
          <a:solidFill>
            <a:srgbClr val="D98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9584" y="2743200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9584" y="3236976"/>
            <a:ext cx="20848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Poppins"/>
              </a:rPr>
              <a:t>Nepouzdan tajmer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3566160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 i="0">
                <a:solidFill>
                  <a:srgbClr val="AEBBD0"/>
                </a:solidFill>
                <a:latin typeface="Calibri"/>
              </a:rPr>
              <a:t>Elapsed Time se nije pouzdano resetovao pri ponovnom ulasku u DoorOpen; zamenjen namenskim Action Engine tajmerom.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578608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1E2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126480" y="2743200"/>
            <a:ext cx="420624" cy="420624"/>
          </a:xfrm>
          <a:prstGeom prst="ellipse">
            <a:avLst/>
          </a:prstGeom>
          <a:solidFill>
            <a:srgbClr val="E7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0" y="2743200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7223B"/>
                </a:solidFill>
                <a:latin typeface="Poppin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236976"/>
            <a:ext cx="20848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Poppins"/>
              </a:rPr>
              <a:t>„Pamćenje“ starog stanja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566160"/>
            <a:ext cx="2103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 i="0">
                <a:solidFill>
                  <a:srgbClr val="AEBBD0"/>
                </a:solidFill>
                <a:latin typeface="Calibri"/>
              </a:rPr>
              <a:t>Server pamti poslednju vrednost; reset integralne sume i upis default vrednosti pri startu to čiste.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526280"/>
            <a:ext cx="768096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solidFill>
                  <a:srgbClr val="FFFFFF"/>
                </a:solidFill>
                <a:latin typeface="Poppins"/>
              </a:rPr>
              <a:t>Hvala </a:t>
            </a:r>
            <a:r>
              <a:rPr sz="1350" b="1" i="0" dirty="0" err="1">
                <a:solidFill>
                  <a:srgbClr val="FFFFFF"/>
                </a:solidFill>
                <a:latin typeface="Poppins"/>
              </a:rPr>
              <a:t>na</a:t>
            </a:r>
            <a:r>
              <a:rPr sz="1350" b="1" i="0" dirty="0">
                <a:solidFill>
                  <a:srgbClr val="FFFFFF"/>
                </a:solidFill>
                <a:latin typeface="Poppins"/>
              </a:rPr>
              <a:t> </a:t>
            </a:r>
            <a:r>
              <a:rPr sz="1350" b="1" i="0" dirty="0" err="1">
                <a:solidFill>
                  <a:srgbClr val="FFFFFF"/>
                </a:solidFill>
                <a:latin typeface="Poppins"/>
              </a:rPr>
              <a:t>pažnji</a:t>
            </a:r>
            <a:r>
              <a:rPr lang="en-GB" sz="1350" b="1" i="0" dirty="0">
                <a:solidFill>
                  <a:srgbClr val="FFFFFF"/>
                </a:solidFill>
                <a:latin typeface="Poppins"/>
              </a:rPr>
              <a:t>!</a:t>
            </a:r>
            <a:endParaRPr sz="1350" b="1" i="0" dirty="0">
              <a:solidFill>
                <a:srgbClr val="FFFFFF"/>
              </a:solidFill>
              <a:latin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2012</Words>
  <Application>Microsoft Office PowerPoint</Application>
  <PresentationFormat>On-screen Show (16:9)</PresentationFormat>
  <Paragraphs>225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3</cp:revision>
  <dcterms:created xsi:type="dcterms:W3CDTF">2013-01-27T09:14:16Z</dcterms:created>
  <dcterms:modified xsi:type="dcterms:W3CDTF">2026-07-13T23:21:11Z</dcterms:modified>
  <cp:category/>
</cp:coreProperties>
</file>