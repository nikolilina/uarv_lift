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96" autoAdjust="0"/>
  </p:normalViewPr>
  <p:slideViewPr>
    <p:cSldViewPr snapToGrid="0" snapToObjects="1">
      <p:cViewPr>
        <p:scale>
          <a:sx n="102" d="100"/>
          <a:sy n="102" d="100"/>
        </p:scale>
        <p:origin x="-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17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Cilj: kompletna LabVIEW aplikacija za lift kroz tri programa. Fizika je model prvog reda; akcenat na regulatoru, automatu i prenosu na dva uredjaja.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SIL: sve softverski na jednom racunaru, brzo debagovanje bez rizika. Tek kad je ponasanje potvrdjeno, prelazi se na HIL: dva odvojena NI kontrolera koja komuniciraju preko mreze.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Tri VI-ja: Model_Lifta na sbRIO, Automat na cRIO, HMI na PC. FPGA se ne koristi (nema fizickih senzora ni aktuatora), sve ide preko mreznih deljenih promenljivih. Redosled pokretanja: model, automat,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Osam deljenih promenljivih cini interfejs izmedju tri VI-ja. Posto server zadrzava poslednju vrednost, svaki VI pri startu upisuje default za Stop i CiljniSprat da se sistem ne zakljuca u Shutdown. x se u HIL verziji cita sa mreze.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Umesto detaljnog fizickog modela, jednacina prvog reda diskretizovana Euler forward. K=0.55 ublazava nagli skok signala. Problem curenja pozicije ka nuli pri mirovanju resen je promenljivom AutomatUMoving (formula se primenjuje samo u stanju Moving).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Ideja postavljanja polova: umesto biranja Kp i Ki probom, zadamo zeljene polove zatvorene petlje (drugog reda: objekat prvog reda + integrator), pa se pojacanja izracunaju analiticki. Birani razmaknuti realni polovi, stabilan odziv bez preskakanja. Usvojeno Kp=5.5, Ki=1.3. Histereza: |e|&gt;0.8 za polazak, |e|&lt;0.05 za dolazak. Kljucna ispravka: apsolutna vrednost greske u oba uslova.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Cetiri stanja: Idle, Moving, DoorOpen, Shutdown. Prelazi: Idle-&gt;Moving kad ima poziv, Moving-&gt;DoorOpen kad lift stigne, DoorOpen-&gt;Idle po isteku tajmera. Guard Clause pri Stop-u ili gresci prisilno vodi u Shutdown bez obzira na glavnu logiku.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Implementacija</a:t>
            </a:r>
            <a:r>
              <a:rPr dirty="0"/>
              <a:t> automata: </a:t>
            </a:r>
            <a:r>
              <a:rPr dirty="0" err="1"/>
              <a:t>jedna</a:t>
            </a:r>
            <a:r>
              <a:rPr dirty="0"/>
              <a:t> While </a:t>
            </a:r>
            <a:r>
              <a:rPr dirty="0" err="1"/>
              <a:t>petlja</a:t>
            </a:r>
            <a:r>
              <a:rPr dirty="0"/>
              <a:t>; shift-</a:t>
            </a:r>
            <a:r>
              <a:rPr dirty="0" err="1"/>
              <a:t>registri</a:t>
            </a:r>
            <a:r>
              <a:rPr dirty="0"/>
              <a:t> nose </a:t>
            </a:r>
            <a:r>
              <a:rPr dirty="0" err="1"/>
              <a:t>trenutno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integralnu</a:t>
            </a:r>
            <a:r>
              <a:rPr dirty="0"/>
              <a:t> </a:t>
            </a:r>
            <a:r>
              <a:rPr dirty="0" err="1"/>
              <a:t>sumu</a:t>
            </a:r>
            <a:r>
              <a:rPr dirty="0"/>
              <a:t>; x se u HIL </a:t>
            </a:r>
            <a:r>
              <a:rPr dirty="0" err="1"/>
              <a:t>verziji</a:t>
            </a:r>
            <a:r>
              <a:rPr dirty="0"/>
              <a:t> </a:t>
            </a:r>
            <a:r>
              <a:rPr dirty="0" err="1"/>
              <a:t>cita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mreze</a:t>
            </a:r>
            <a:r>
              <a:rPr dirty="0"/>
              <a:t>. </a:t>
            </a:r>
            <a:r>
              <a:rPr dirty="0" err="1"/>
              <a:t>Svaka</a:t>
            </a:r>
            <a:r>
              <a:rPr dirty="0"/>
              <a:t> </a:t>
            </a:r>
            <a:r>
              <a:rPr dirty="0" err="1"/>
              <a:t>iteracija</a:t>
            </a:r>
            <a:r>
              <a:rPr dirty="0"/>
              <a:t>: </a:t>
            </a:r>
            <a:r>
              <a:rPr dirty="0" err="1"/>
              <a:t>procita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-&gt; Case </a:t>
            </a:r>
            <a:r>
              <a:rPr dirty="0" err="1"/>
              <a:t>struktura</a:t>
            </a:r>
            <a:r>
              <a:rPr dirty="0"/>
              <a:t> </a:t>
            </a:r>
            <a:r>
              <a:rPr dirty="0" err="1"/>
              <a:t>racuna</a:t>
            </a:r>
            <a:r>
              <a:rPr dirty="0"/>
              <a:t> u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predlaze</a:t>
            </a:r>
            <a:r>
              <a:rPr dirty="0"/>
              <a:t> </a:t>
            </a:r>
            <a:r>
              <a:rPr dirty="0" err="1"/>
              <a:t>sledece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-&gt; Guard Clause </a:t>
            </a:r>
            <a:r>
              <a:rPr dirty="0" err="1"/>
              <a:t>presretne</a:t>
            </a:r>
            <a:r>
              <a:rPr dirty="0"/>
              <a:t> (Stop/</a:t>
            </a:r>
            <a:r>
              <a:rPr dirty="0" err="1"/>
              <a:t>greska</a:t>
            </a:r>
            <a:r>
              <a:rPr dirty="0"/>
              <a:t> -&gt; Shutdown) -&gt; </a:t>
            </a:r>
            <a:r>
              <a:rPr dirty="0" err="1"/>
              <a:t>stanje</a:t>
            </a:r>
            <a:r>
              <a:rPr dirty="0"/>
              <a:t> se </a:t>
            </a:r>
            <a:r>
              <a:rPr dirty="0" err="1"/>
              <a:t>upise</a:t>
            </a:r>
            <a:r>
              <a:rPr dirty="0"/>
              <a:t> u shift-</a:t>
            </a:r>
            <a:r>
              <a:rPr dirty="0" err="1"/>
              <a:t>registar</a:t>
            </a:r>
            <a:r>
              <a:rPr dirty="0"/>
              <a:t>. </a:t>
            </a:r>
            <a:r>
              <a:rPr dirty="0" err="1"/>
              <a:t>Mesto</a:t>
            </a:r>
            <a:r>
              <a:rPr dirty="0"/>
              <a:t> </a:t>
            </a:r>
            <a:r>
              <a:rPr dirty="0" err="1"/>
              <a:t>za</a:t>
            </a:r>
            <a:r>
              <a:rPr dirty="0"/>
              <a:t> </a:t>
            </a:r>
            <a:r>
              <a:rPr dirty="0" err="1"/>
              <a:t>sliku</a:t>
            </a:r>
            <a:r>
              <a:rPr dirty="0"/>
              <a:t> block </a:t>
            </a:r>
            <a:r>
              <a:rPr dirty="0" err="1"/>
              <a:t>dijagrama</a:t>
            </a:r>
            <a:r>
              <a:rPr dirty="0"/>
              <a:t> (</a:t>
            </a:r>
            <a:r>
              <a:rPr dirty="0" err="1"/>
              <a:t>Slika</a:t>
            </a:r>
            <a:r>
              <a:rPr dirty="0"/>
              <a:t>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Implementacija</a:t>
            </a:r>
            <a:r>
              <a:rPr dirty="0"/>
              <a:t> automata: </a:t>
            </a:r>
            <a:r>
              <a:rPr dirty="0" err="1"/>
              <a:t>jedna</a:t>
            </a:r>
            <a:r>
              <a:rPr dirty="0"/>
              <a:t> While </a:t>
            </a:r>
            <a:r>
              <a:rPr dirty="0" err="1"/>
              <a:t>petlja</a:t>
            </a:r>
            <a:r>
              <a:rPr dirty="0"/>
              <a:t>; shift-</a:t>
            </a:r>
            <a:r>
              <a:rPr dirty="0" err="1"/>
              <a:t>registri</a:t>
            </a:r>
            <a:r>
              <a:rPr dirty="0"/>
              <a:t> nose </a:t>
            </a:r>
            <a:r>
              <a:rPr dirty="0" err="1"/>
              <a:t>trenutno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t>integralnu</a:t>
            </a:r>
            <a:r>
              <a:rPr dirty="0"/>
              <a:t> </a:t>
            </a:r>
            <a:r>
              <a:rPr dirty="0" err="1"/>
              <a:t>sumu</a:t>
            </a:r>
            <a:r>
              <a:rPr dirty="0"/>
              <a:t>; x se u HIL </a:t>
            </a:r>
            <a:r>
              <a:rPr dirty="0" err="1"/>
              <a:t>verziji</a:t>
            </a:r>
            <a:r>
              <a:rPr dirty="0"/>
              <a:t> </a:t>
            </a:r>
            <a:r>
              <a:rPr dirty="0" err="1"/>
              <a:t>cita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mreze</a:t>
            </a:r>
            <a:r>
              <a:rPr dirty="0"/>
              <a:t>. </a:t>
            </a:r>
            <a:r>
              <a:rPr dirty="0" err="1"/>
              <a:t>Svaka</a:t>
            </a:r>
            <a:r>
              <a:rPr dirty="0"/>
              <a:t> </a:t>
            </a:r>
            <a:r>
              <a:rPr dirty="0" err="1"/>
              <a:t>iteracija</a:t>
            </a:r>
            <a:r>
              <a:rPr dirty="0"/>
              <a:t>: </a:t>
            </a:r>
            <a:r>
              <a:rPr dirty="0" err="1"/>
              <a:t>procita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-&gt; Case </a:t>
            </a:r>
            <a:r>
              <a:rPr dirty="0" err="1"/>
              <a:t>struktura</a:t>
            </a:r>
            <a:r>
              <a:rPr dirty="0"/>
              <a:t> </a:t>
            </a:r>
            <a:r>
              <a:rPr dirty="0" err="1"/>
              <a:t>racuna</a:t>
            </a:r>
            <a:r>
              <a:rPr dirty="0"/>
              <a:t> u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predlaze</a:t>
            </a:r>
            <a:r>
              <a:rPr dirty="0"/>
              <a:t> </a:t>
            </a:r>
            <a:r>
              <a:rPr dirty="0" err="1"/>
              <a:t>sledece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-&gt; Guard Clause </a:t>
            </a:r>
            <a:r>
              <a:rPr dirty="0" err="1"/>
              <a:t>presretne</a:t>
            </a:r>
            <a:r>
              <a:rPr dirty="0"/>
              <a:t> (Stop/</a:t>
            </a:r>
            <a:r>
              <a:rPr dirty="0" err="1"/>
              <a:t>greska</a:t>
            </a:r>
            <a:r>
              <a:rPr dirty="0"/>
              <a:t> -&gt; Shutdown) -&gt; </a:t>
            </a:r>
            <a:r>
              <a:rPr dirty="0" err="1"/>
              <a:t>stanje</a:t>
            </a:r>
            <a:r>
              <a:rPr dirty="0"/>
              <a:t> se </a:t>
            </a:r>
            <a:r>
              <a:rPr dirty="0" err="1"/>
              <a:t>upise</a:t>
            </a:r>
            <a:r>
              <a:rPr dirty="0"/>
              <a:t> u shift-</a:t>
            </a:r>
            <a:r>
              <a:rPr dirty="0" err="1"/>
              <a:t>registar</a:t>
            </a:r>
            <a:r>
              <a:rPr dirty="0"/>
              <a:t>. </a:t>
            </a:r>
            <a:r>
              <a:rPr dirty="0" err="1"/>
              <a:t>Mesto</a:t>
            </a:r>
            <a:r>
              <a:rPr dirty="0"/>
              <a:t> </a:t>
            </a:r>
            <a:r>
              <a:rPr dirty="0" err="1"/>
              <a:t>za</a:t>
            </a:r>
            <a:r>
              <a:rPr dirty="0"/>
              <a:t> </a:t>
            </a:r>
            <a:r>
              <a:rPr dirty="0" err="1"/>
              <a:t>sliku</a:t>
            </a:r>
            <a:r>
              <a:rPr dirty="0"/>
              <a:t> block </a:t>
            </a:r>
            <a:r>
              <a:rPr dirty="0" err="1"/>
              <a:t>dijagrama</a:t>
            </a:r>
            <a:r>
              <a:rPr dirty="0"/>
              <a:t> (</a:t>
            </a:r>
            <a:r>
              <a:rPr dirty="0" err="1"/>
              <a:t>Slika</a:t>
            </a:r>
            <a:r>
              <a:rPr dirty="0"/>
              <a:t>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Front panel: 6 unutrasnjih dugmadi (0-5) + 10 spoljasnjih poziva. Unutrasnja dugmad aktivna tek nakon poziva spolja i samo u smeru poziva. Grafik prikazuje neprekidnu poziciju (Meter), plus vizuelni indikator za zaokruzenu poziciju. Cetiri LED-a za stanje, uvek tacno jedan aktivan. Mesto za sliku front panela (Slika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Panel ima dve nezavisne paralelne petlje: jedna sa Event strukturom hvata klikove i upisuje komande na mrezu; druga neprekidno cita poziciju i stanje i osvezava prikaz. Razdvajanje cini prikaz glatkim i azurnim nezavisno od klikova. Mesto za sliku block dijagrama (Slika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Bezbedno gasenje preko Guard Clause -&gt; Shutdown. Kljuc: Shutdown prvo postavi u=0 i zaustavi kretanje, pa se tek onda petlja gasi. Tako na mrezi ne ostanu zaostale vrednosti (npr. u razlicito od nule) koje bi model i automat citali kao protivrecne. Naglo gasenje bi ostavilo takve vrednosti.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Zakljucak: put od modela do raspodele na hardver. Tri kljucne zamke i resenja: (1) apsolutna vrednost greske ispravlja asimetriju kretanja; (2) Elapsed Time se nije pouzdano resetovao pri ponovnom ulasku u DoorOpen, pa je zamenjen namenskim Action Engine tajmerom sa metodama Reset/Timecheck; (3) reset integralne sume i default vrednosti deljenih promenljivih pri startu ciste zaostatke. Hvala na paznji.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1E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45720" cy="5143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35240" y="868680"/>
            <a:ext cx="822960" cy="3429000"/>
          </a:xfrm>
          <a:prstGeom prst="rect">
            <a:avLst/>
          </a:prstGeom>
          <a:solidFill>
            <a:srgbClr val="16233D"/>
          </a:solidFill>
          <a:ln w="12700">
            <a:solidFill>
              <a:srgbClr val="34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635240" y="37261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31546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5831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35240" y="20116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14401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868680"/>
            <a:ext cx="822960" cy="0"/>
          </a:xfrm>
          <a:prstGeom prst="line">
            <a:avLst/>
          </a:prstGeom>
          <a:ln w="9525">
            <a:solidFill>
              <a:srgbClr val="2C3C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54112" y="3337560"/>
            <a:ext cx="585216" cy="566928"/>
          </a:xfrm>
          <a:prstGeom prst="roundRect">
            <a:avLst>
              <a:gd name="adj" fmla="val 1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337560"/>
            <a:ext cx="0" cy="566928"/>
          </a:xfrm>
          <a:prstGeom prst="line">
            <a:avLst/>
          </a:prstGeom>
          <a:ln w="12700">
            <a:solidFill>
              <a:srgbClr val="0A4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 rot="16200000">
            <a:off x="7891271" y="1097280"/>
            <a:ext cx="310896" cy="274320"/>
          </a:xfrm>
          <a:prstGeom prst="chevron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7F3F4"/>
                </a:solidFill>
                <a:latin typeface="Poppins"/>
              </a:rPr>
              <a:t>FAKULTET TEHNIČKIH NAUKA  ·  NOVI SAD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32688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DB0C9"/>
                </a:solidFill>
                <a:latin typeface="Calibri"/>
              </a:rPr>
              <a:t>Upravljanje i regulacija · UARV projekat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554480"/>
            <a:ext cx="6217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Poppins"/>
              </a:rPr>
              <a:t>Sistem za upravljanje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Poppins"/>
              </a:rPr>
              <a:t>liftom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SIL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47672" y="27889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HIL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82549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C7D4E4"/>
                </a:solidFill>
                <a:latin typeface="Calibri"/>
              </a:rPr>
              <a:t>simulacija u LabVIEW okruženju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3456432"/>
            <a:ext cx="5650992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3611880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3DDEA"/>
                </a:solidFill>
                <a:latin typeface="Calibri"/>
              </a:rPr>
              <a:t>Nikol Vidaković  ·  RA232/2023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3DDEA"/>
                </a:solidFill>
                <a:latin typeface="Calibri"/>
              </a:rPr>
              <a:t>Nedeljko Ćuso  ·  RA175/2023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3DDEA"/>
                </a:solidFill>
                <a:latin typeface="Calibri"/>
              </a:rPr>
              <a:t>Valerija Teovanović  ·  RA187/2023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D3DDEA"/>
                </a:solidFill>
                <a:latin typeface="Calibri"/>
              </a:rPr>
              <a:t>Vladimir Trkulja  ·  RA233/2023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1830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C7688"/>
                </a:solidFill>
                <a:latin typeface="Calibri"/>
              </a:rPr>
              <a:t>Novi Sad, jul 2026.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UVOD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Cilj projekta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6634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7223B"/>
                </a:solidFill>
                <a:latin typeface="Calibri"/>
              </a:rPr>
              <a:t>Kompletna aplikacija za upravljanje liftom u LabVIEW-u, podeljena u </a:t>
            </a:r>
            <a:r>
              <a:rPr sz="1200" b="0" i="0">
                <a:solidFill>
                  <a:srgbClr val="3A4763"/>
                </a:solidFill>
                <a:latin typeface="Calibri"/>
              </a:rPr>
              <a:t>tri odvojena programa.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7223B"/>
                </a:solidFill>
                <a:latin typeface="Calibri"/>
              </a:rPr>
              <a:t>Fizika lifta namerno pojednostavljena: </a:t>
            </a:r>
            <a:r>
              <a:rPr sz="1200" b="0" i="0">
                <a:solidFill>
                  <a:srgbClr val="3A4763"/>
                </a:solidFill>
                <a:latin typeface="Calibri"/>
              </a:rPr>
              <a:t>sistem prvog reda; fokus nije na vernoj mehanici.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7223B"/>
                </a:solidFill>
                <a:latin typeface="Calibri"/>
              </a:rPr>
              <a:t>Težište na </a:t>
            </a:r>
            <a:r>
              <a:rPr sz="1200" b="0" i="0">
                <a:solidFill>
                  <a:srgbClr val="3A4763"/>
                </a:solidFill>
                <a:latin typeface="Calibri"/>
              </a:rPr>
              <a:t>analitički podešenom regulatoru, robusnom automatu stanja i ispravnom prenosu arhitekture sa jedne na dve mašine.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7223B"/>
                </a:solidFill>
                <a:latin typeface="Calibri"/>
              </a:rPr>
              <a:t>Ključna ideja: logika koja u simulaciji radi na </a:t>
            </a:r>
            <a:r>
              <a:rPr sz="1200" b="0" i="0">
                <a:solidFill>
                  <a:srgbClr val="3A4763"/>
                </a:solidFill>
                <a:latin typeface="Calibri"/>
              </a:rPr>
              <a:t>jednom računaru mora raditi i kada se razdeli na dva mrežno povezana uređaja.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371600"/>
            <a:ext cx="3017520" cy="960120"/>
          </a:xfrm>
          <a:prstGeom prst="roundRect">
            <a:avLst>
              <a:gd name="adj" fmla="val 9000"/>
            </a:avLst>
          </a:prstGeom>
          <a:solidFill>
            <a:srgbClr val="E7F3F4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9864" y="1545336"/>
            <a:ext cx="603504" cy="6035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9864" y="154533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5087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Model dinamike lifta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828800"/>
            <a:ext cx="19933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Simulacija fizike: jednačina prvog reda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496312"/>
            <a:ext cx="3017520" cy="960120"/>
          </a:xfrm>
          <a:prstGeom prst="roundRect">
            <a:avLst>
              <a:gd name="adj" fmla="val 9000"/>
            </a:avLst>
          </a:prstGeom>
          <a:solidFill>
            <a:srgbClr val="FBEEDD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69864" y="2670048"/>
            <a:ext cx="603504" cy="603504"/>
          </a:xfrm>
          <a:prstGeom prst="ellipse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9864" y="267004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33472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Upravljačka aplikacija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953512"/>
            <a:ext cx="19933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Automat stanja + PI regulator pozicije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621024"/>
            <a:ext cx="3017520" cy="960120"/>
          </a:xfrm>
          <a:prstGeom prst="roundRect">
            <a:avLst>
              <a:gd name="adj" fmla="val 9000"/>
            </a:avLst>
          </a:prstGeom>
          <a:solidFill>
            <a:srgbClr val="E6F3EC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9864" y="3794760"/>
            <a:ext cx="603504" cy="603504"/>
          </a:xfrm>
          <a:prstGeom prst="ellipse">
            <a:avLst/>
          </a:prstGeom>
          <a:solidFill>
            <a:srgbClr val="3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9864" y="379476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758184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Korisnički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078224"/>
            <a:ext cx="19933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Pozivi, prikaz pozicije i stanja u realnom vremenu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METODOLOGIJA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Dve faze razvoja: SIL → HIL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3A4763"/>
                </a:solidFill>
                <a:latin typeface="Calibri"/>
              </a:rPr>
              <a:t>Sistem je razvijan kroz dve jasno odvojene faze: prvo bezbedno u softveru, potom na realnom hardveru.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2024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212140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2140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A5A62"/>
                </a:solidFill>
                <a:latin typeface="Poppins"/>
              </a:rPr>
              <a:t>Software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Model fizike i upravljačka logika izvršavaju se zajedno na jednom računaru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Brzo otkrivanje i ispravljanje grešaka u logici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Bez ikakvog rizika po hardver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4443984" y="2852928"/>
            <a:ext cx="457200" cy="640080"/>
          </a:xfrm>
          <a:prstGeom prst="chevron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35204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1">
                <a:solidFill>
                  <a:srgbClr val="6C7688"/>
                </a:solidFill>
                <a:latin typeface="Calibri"/>
              </a:rPr>
              <a:t>potvrda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92024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93792" y="212140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Poppins"/>
              </a:rPr>
              <a:t>HIL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12140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A5A16"/>
                </a:solidFill>
                <a:latin typeface="Poppins"/>
              </a:rPr>
              <a:t>Hardware in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69748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D9832F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Sistem raspoređen na dva NI kontrolera koji komuniciraju samo preko mreže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D9832F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Svaki uređaj radi pod sopstvenim real-time OS-om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D9832F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4763"/>
                </a:solidFill>
                <a:latin typeface="Calibri"/>
              </a:rPr>
              <a:t>Verno simulira fizički razdvojenu upravljačku jedinicu i uređaj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RASPODELA NA UREĐAJE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Arhitektura sistema (HIL)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4358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A4763"/>
                </a:solidFill>
                <a:latin typeface="Calibri"/>
              </a:rPr>
              <a:t>Tri VI-ja na tri čvora; sva razmena podataka je softverska, preko mrežnih deljenih promenljivih (FPGA sloj se ne koristi).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FE5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>
            <a:off x="749808" y="1874519"/>
            <a:ext cx="2487168" cy="457200"/>
          </a:xfrm>
          <a:prstGeom prst="round2SameRect">
            <a:avLst/>
          </a:prstGeom>
          <a:solidFill>
            <a:srgbClr val="3F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874519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Personalni računar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4144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Korisnički panel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807208"/>
            <a:ext cx="2194560" cy="329184"/>
          </a:xfrm>
          <a:prstGeom prst="roundRect">
            <a:avLst>
              <a:gd name="adj" fmla="val 1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0720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4763"/>
                </a:solidFill>
                <a:latin typeface="Consolas"/>
              </a:rPr>
              <a:t>PC_HMI_Lift.vi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Pozivi · prikaz pozicije i stanja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874519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FE5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>
            <a:off x="3328416" y="1874519"/>
            <a:ext cx="2487168" cy="457200"/>
          </a:xfrm>
          <a:prstGeom prst="round2SameRect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1874519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cRIO kontroler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4144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Upravljačka aplikacija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807208"/>
            <a:ext cx="2194560" cy="329184"/>
          </a:xfrm>
          <a:prstGeom prst="roundRect">
            <a:avLst>
              <a:gd name="adj" fmla="val 1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280720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4763"/>
                </a:solidFill>
                <a:latin typeface="Consolas"/>
              </a:rPr>
              <a:t>Automat_Lift_sbRIO.vi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Automat stanja + PI regulator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1874519"/>
            <a:ext cx="2487168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FE5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>
            <a:off x="5907024" y="1874519"/>
            <a:ext cx="2487168" cy="457200"/>
          </a:xfrm>
          <a:prstGeom prst="round2Same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1874519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sbRIO kontroler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244144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223B"/>
                </a:solidFill>
                <a:latin typeface="Poppins"/>
              </a:rPr>
              <a:t>Model dinamike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2807208"/>
            <a:ext cx="2194560" cy="329184"/>
          </a:xfrm>
          <a:prstGeom prst="roundRect">
            <a:avLst>
              <a:gd name="adj" fmla="val 1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3328" y="280720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4763"/>
                </a:solidFill>
                <a:latin typeface="Consolas"/>
              </a:rPr>
              <a:t>Model_Lifta.vi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688"/>
                </a:solidFill>
                <a:latin typeface="Calibri"/>
              </a:rPr>
              <a:t>Simulacija fizike lifta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041647"/>
            <a:ext cx="7644383" cy="457200"/>
          </a:xfrm>
          <a:prstGeom prst="roundRect">
            <a:avLst>
              <a:gd name="adj" fmla="val 40000"/>
            </a:avLst>
          </a:prstGeom>
          <a:solidFill>
            <a:srgbClr val="17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041647"/>
            <a:ext cx="76443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9832F"/>
                </a:solidFill>
                <a:latin typeface="Calibri"/>
              </a:rPr>
              <a:t>◄  </a:t>
            </a:r>
            <a:r>
              <a:rPr sz="1150" b="1" i="0">
                <a:solidFill>
                  <a:srgbClr val="FFFFFF"/>
                </a:solidFill>
                <a:latin typeface="Poppins"/>
              </a:rPr>
              <a:t>Mrežne deljene promenljive</a:t>
            </a:r>
            <a:r>
              <a:rPr sz="1050" b="0" i="0">
                <a:solidFill>
                  <a:srgbClr val="AEBBD0"/>
                </a:solidFill>
                <a:latin typeface="Calibri"/>
              </a:rPr>
              <a:t>   :   Lift_Promenljive.lvlib   (mrežni kabl cRIO ↔ sbRIO)   </a:t>
            </a:r>
            <a:r>
              <a:rPr sz="1100" b="1" i="0">
                <a:solidFill>
                  <a:srgbClr val="D9832F"/>
                </a:solidFill>
                <a:latin typeface="Calibri"/>
              </a:rPr>
              <a:t>  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93392" y="3840479"/>
            <a:ext cx="0" cy="201168"/>
          </a:xfrm>
          <a:prstGeom prst="line">
            <a:avLst/>
          </a:prstGeom>
          <a:ln w="15240">
            <a:solidFill>
              <a:srgbClr val="6C76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3840479"/>
            <a:ext cx="0" cy="201168"/>
          </a:xfrm>
          <a:prstGeom prst="line">
            <a:avLst/>
          </a:prstGeom>
          <a:ln w="15240">
            <a:solidFill>
              <a:srgbClr val="6C76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50608" y="3840479"/>
            <a:ext cx="0" cy="201168"/>
          </a:xfrm>
          <a:prstGeom prst="line">
            <a:avLst/>
          </a:prstGeom>
          <a:ln w="15240">
            <a:solidFill>
              <a:srgbClr val="6C76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LIFT_PROMENLJIVE.LVLIB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Deljene promenljive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71600"/>
            <a:ext cx="5074920" cy="342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3716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Naziv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736" y="13716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Tip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13716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Upisuje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3716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Čita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714500"/>
            <a:ext cx="5074920" cy="3429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7145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7145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Double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7145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17145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0574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20574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Double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0574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20574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Automat, Panel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400300"/>
            <a:ext cx="5074920" cy="3429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24003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9736" y="24003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Boolean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24003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Automat,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24003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Model, Automat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27432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CiljniSprat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9736" y="27432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Double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27432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27432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3086100"/>
            <a:ext cx="5074920" cy="3429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30861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AutomatUMoving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9736" y="30861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Boolean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30861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5736" y="30861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34290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TrenutnoStanje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9736" y="34290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U8 (0-3)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296" y="34290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Automat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5736" y="34290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3771900"/>
            <a:ext cx="5074920" cy="3429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37719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LiftPozvan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9736" y="37719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Boolean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37719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736" y="37719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114800"/>
            <a:ext cx="147218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Consolas"/>
              </a:rPr>
              <a:t>SmerPoziva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9736" y="4114800"/>
            <a:ext cx="923543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Boolean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1296" y="4114800"/>
            <a:ext cx="110642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45736" y="4114800"/>
            <a:ext cx="1060704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A4763"/>
                </a:solidFill>
                <a:latin typeface="Calibri"/>
              </a:rPr>
              <a:t>Panel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9808" y="4457700"/>
            <a:ext cx="5074920" cy="0"/>
          </a:xfrm>
          <a:prstGeom prst="line">
            <a:avLst/>
          </a:prstGeom>
          <a:ln w="12700">
            <a:solidFill>
              <a:srgbClr val="D9DF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126480" y="1371600"/>
            <a:ext cx="2286000" cy="3108960"/>
          </a:xfrm>
          <a:prstGeom prst="roundRect">
            <a:avLst>
              <a:gd name="adj" fmla="val 5000"/>
            </a:avLst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27648" y="15727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5A62"/>
                </a:solidFill>
                <a:latin typeface="Poppins"/>
              </a:rPr>
              <a:t>Zašto je bitno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2011680"/>
            <a:ext cx="1920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A4763"/>
                </a:solidFill>
                <a:latin typeface="Calibri"/>
              </a:rPr>
              <a:t>Server pamti poslednju vrednost: svaki VI pri startu upisuje podrazumevanu vrednost za Stop i CiljniSprat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A4763"/>
                </a:solidFill>
                <a:latin typeface="Calibri"/>
              </a:rPr>
              <a:t>Inače bi sistem mogao ostati trajno zaključan u Shutdown-u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A4763"/>
                </a:solidFill>
                <a:latin typeface="Calibri"/>
              </a:rPr>
              <a:t>x više ne živi u shift-registru, čita se sa mreže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SISTEM PRVOG REDA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Model dinamike lifta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C7688"/>
                </a:solidFill>
                <a:latin typeface="Poppins"/>
              </a:rPr>
              <a:t>Kontinualni model: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223B"/>
                </a:solidFill>
                <a:latin typeface="Consolas"/>
              </a:rPr>
              <a:t>T · (dx/dt) + x = K ·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C7688"/>
                </a:solidFill>
                <a:latin typeface="Poppins"/>
              </a:rPr>
              <a:t>Diskretizacija (Euler forward, korak Ts):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88336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68833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A5A62"/>
                </a:solidFill>
                <a:latin typeface="Consolas"/>
              </a:rPr>
              <a:t>x[k+1] = x[k] + (Ts/T)·(K·u[k] − x[k])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56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C7688"/>
                </a:solidFill>
                <a:latin typeface="Poppins"/>
              </a:rPr>
              <a:t>Usvojeni parametri: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49039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749039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onsolas"/>
              </a:rPr>
              <a:t>Ts = 0.1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22576" y="3749039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3749039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onsolas"/>
              </a:rPr>
              <a:t>T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95344" y="3749039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D98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95344" y="3749039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832F"/>
                </a:solidFill>
                <a:latin typeface="Consolas"/>
              </a:rPr>
              <a:t>K = 0.55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3716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7223B"/>
                </a:solidFill>
                <a:latin typeface="Poppins"/>
              </a:rPr>
              <a:t>Rešeni problemi u razvoju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691640"/>
            <a:ext cx="2971800" cy="1188720"/>
          </a:xfrm>
          <a:prstGeom prst="roundRect">
            <a:avLst>
              <a:gd name="adj" fmla="val 7000"/>
            </a:avLst>
          </a:prstGeom>
          <a:solidFill>
            <a:srgbClr val="FBEEDD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69864" y="1856232"/>
            <a:ext cx="384048" cy="384048"/>
          </a:xfrm>
          <a:prstGeom prst="ellipse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9864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1837944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223B"/>
                </a:solidFill>
                <a:latin typeface="Poppins"/>
              </a:rPr>
              <a:t>Konstanta 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167128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4763"/>
                </a:solidFill>
                <a:latin typeface="Calibri"/>
              </a:rPr>
              <a:t>Dodata naknadno da ublaži nagli skok upravljačkog signala kada je lift daleko od cilja.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999232"/>
            <a:ext cx="2971800" cy="1188720"/>
          </a:xfrm>
          <a:prstGeom prst="roundRect">
            <a:avLst>
              <a:gd name="adj" fmla="val 7000"/>
            </a:avLst>
          </a:prstGeom>
          <a:solidFill>
            <a:srgbClr val="FBE9E4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69864" y="3163824"/>
            <a:ext cx="384048" cy="384048"/>
          </a:xfrm>
          <a:prstGeom prst="ellipse">
            <a:avLst/>
          </a:prstGeom>
          <a:solidFill>
            <a:srgbClr val="CF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9864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314553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223B"/>
                </a:solidFill>
                <a:latin typeface="Poppins"/>
              </a:rPr>
              <a:t>„Curenje“ pozicije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47472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3A4763"/>
                </a:solidFill>
                <a:latin typeface="Calibri"/>
              </a:rPr>
              <a:t>Pri u=0 formula je vukla x ka nuli. Rešeno promenljivom AutomatUMoving: formula radi samo u stanju Moving.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POSTAVLJANJE POLOVA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Regulacija pozicije (PI regulator)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7644383" cy="566928"/>
          </a:xfrm>
          <a:prstGeom prst="roundRect">
            <a:avLst>
              <a:gd name="adj" fmla="val 10000"/>
            </a:avLst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371600"/>
            <a:ext cx="764438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A5A62"/>
                </a:solidFill>
                <a:latin typeface="Consolas"/>
              </a:rPr>
              <a:t>u = Kp·e + Ki·I        I[k+1] = I[k] + Ts·e[k]        e = CiljniSprat −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76443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C7688"/>
                </a:solidFill>
                <a:latin typeface="Calibri"/>
              </a:rPr>
              <a:t>D član nije uveden: za sistem ovog reda PI dovoljno eliminiše grešku bez oscilacija.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487168"/>
            <a:ext cx="3794760" cy="22128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1518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223B"/>
                </a:solidFill>
                <a:latin typeface="Poppins"/>
              </a:rPr>
              <a:t>Postavljanje polova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62656"/>
            <a:ext cx="345643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980" b="0" i="0">
                <a:solidFill>
                  <a:srgbClr val="3A4763"/>
                </a:solidFill>
                <a:latin typeface="Calibri"/>
              </a:rPr>
              <a:t>Ne biramo Kp i Ki probom, već unapred zadamo željeno ponašanje zatvorene petlje (njene polove).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980" b="0" i="0">
                <a:solidFill>
                  <a:srgbClr val="3A4763"/>
                </a:solidFill>
                <a:latin typeface="Calibri"/>
              </a:rPr>
              <a:t>Iz tog uslova se pojačanja izračunaju analitički.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980" b="0" i="0">
                <a:solidFill>
                  <a:srgbClr val="3A4763"/>
                </a:solidFill>
                <a:latin typeface="Calibri"/>
              </a:rPr>
              <a:t>Birani su razmaknuti realni polovi: stabilno, bez preskakanja cilja.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224528"/>
            <a:ext cx="3429000" cy="384048"/>
          </a:xfrm>
          <a:prstGeom prst="roundRect">
            <a:avLst>
              <a:gd name="adj" fmla="val 30000"/>
            </a:avLst>
          </a:prstGeom>
          <a:solidFill>
            <a:srgbClr val="FB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224528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Poppins"/>
              </a:rPr>
              <a:t>Usvojeno:   </a:t>
            </a:r>
            <a:r>
              <a:rPr sz="1100" b="1" i="0">
                <a:solidFill>
                  <a:srgbClr val="D9832F"/>
                </a:solidFill>
                <a:latin typeface="Consolas"/>
              </a:rPr>
              <a:t>Kp = 5.5     Ki = 1.3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871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7223B"/>
                </a:solidFill>
                <a:latin typeface="Poppins"/>
              </a:rPr>
              <a:t>Histereza pri promeni stanja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816352"/>
            <a:ext cx="3593592" cy="566928"/>
          </a:xfrm>
          <a:prstGeom prst="roundRect">
            <a:avLst>
              <a:gd name="adj" fmla="val 9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46904" y="281635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Poppins"/>
              </a:rPr>
              <a:t>Idle → Moving</a:t>
            </a:r>
            <a:r>
              <a:rPr sz="1050" b="1" i="0">
                <a:solidFill>
                  <a:srgbClr val="3F9E7C"/>
                </a:solidFill>
                <a:latin typeface="Consolas"/>
              </a:rPr>
              <a:t>   kada  |e| &gt; 0.8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456432"/>
            <a:ext cx="3593592" cy="566928"/>
          </a:xfrm>
          <a:prstGeom prst="roundRect">
            <a:avLst>
              <a:gd name="adj" fmla="val 9000"/>
            </a:avLst>
          </a:prstGeom>
          <a:solidFill>
            <a:srgbClr val="FB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46904" y="345643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223B"/>
                </a:solidFill>
                <a:latin typeface="Poppins"/>
              </a:rPr>
              <a:t>Moving → DoorOpen</a:t>
            </a:r>
            <a:r>
              <a:rPr sz="1050" b="1" i="0">
                <a:solidFill>
                  <a:srgbClr val="D9832F"/>
                </a:solidFill>
                <a:latin typeface="Consolas"/>
              </a:rPr>
              <a:t>   kada  |e| &lt; 0.05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114800"/>
            <a:ext cx="3593592" cy="475488"/>
          </a:xfrm>
          <a:prstGeom prst="roundRect">
            <a:avLst>
              <a:gd name="adj" fmla="val 9000"/>
            </a:avLst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46904" y="4114800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F5340"/>
                </a:solidFill>
                <a:latin typeface="Calibri"/>
              </a:rPr>
              <a:t>⚠ </a:t>
            </a:r>
            <a:r>
              <a:rPr sz="930" b="0" i="0">
                <a:solidFill>
                  <a:srgbClr val="3A4763"/>
                </a:solidFill>
                <a:latin typeface="Calibri"/>
              </a:rPr>
              <a:t>Provera mora koristiti |e|: bez apsolutne vrednosti lift se kretao samo u jednom smeru.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STANJA I PRELAZI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Automat stanja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435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 dirty="0">
                <a:solidFill>
                  <a:srgbClr val="3A4763"/>
                </a:solidFill>
                <a:latin typeface="Calibri"/>
              </a:rPr>
              <a:t>Lift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prolazi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kroz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četiri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stanja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; Guard Clause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može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u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svakom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trenutku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da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presretne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tok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povede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3A4763"/>
                </a:solidFill>
                <a:latin typeface="Calibri"/>
              </a:rPr>
              <a:t>sistem</a:t>
            </a:r>
            <a:r>
              <a:rPr sz="1100" b="0" i="1" dirty="0">
                <a:solidFill>
                  <a:srgbClr val="3A4763"/>
                </a:solidFill>
                <a:latin typeface="Calibri"/>
              </a:rPr>
              <a:t> u Shutdown.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E6F3EC"/>
          </a:solidFill>
          <a:ln w="17780">
            <a:solidFill>
              <a:srgbClr val="3F9E7C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75688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F9E7C"/>
                </a:solidFill>
                <a:latin typeface="Poppins"/>
              </a:rPr>
              <a:t>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23160"/>
            <a:ext cx="1709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Čekanje na novi poziv;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integralna suma →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E7F3F4"/>
          </a:solidFill>
          <a:ln w="17780">
            <a:solidFill>
              <a:srgbClr val="0E7C86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91256" y="2075688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7C86"/>
                </a:solidFill>
                <a:latin typeface="Poppins"/>
              </a:rPr>
              <a:t>Moving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2423160"/>
            <a:ext cx="1709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Kretanje ka cilju;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PI regulator aktivan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6672" y="1965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FBEEDD"/>
          </a:solidFill>
          <a:ln w="17780">
            <a:solidFill>
              <a:srgbClr val="D9832F"/>
            </a:solidFill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4688" y="2075688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5A16"/>
                </a:solidFill>
                <a:latin typeface="Poppins"/>
              </a:rPr>
              <a:t>DoorOpen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423160"/>
            <a:ext cx="1709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Lift stigao, vrata otvorena;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30" b="0" i="0">
                <a:solidFill>
                  <a:srgbClr val="3A4763"/>
                </a:solidFill>
                <a:latin typeface="Calibri"/>
              </a:rPr>
              <a:t>tajmer 5 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15768" y="2423160"/>
            <a:ext cx="347472" cy="0"/>
          </a:xfrm>
          <a:prstGeom prst="line">
            <a:avLst/>
          </a:prstGeom>
          <a:ln w="20320">
            <a:solidFill>
              <a:srgbClr val="6C76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0" y="2423160"/>
            <a:ext cx="347472" cy="0"/>
          </a:xfrm>
          <a:prstGeom prst="line">
            <a:avLst/>
          </a:prstGeom>
          <a:ln w="20320">
            <a:solidFill>
              <a:srgbClr val="6C76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355080" y="1709928"/>
            <a:ext cx="0" cy="256032"/>
          </a:xfrm>
          <a:prstGeom prst="line">
            <a:avLst/>
          </a:prstGeom>
          <a:ln w="16510">
            <a:solidFill>
              <a:srgbClr val="6C76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737360" y="1709928"/>
            <a:ext cx="4617720" cy="0"/>
          </a:xfrm>
          <a:prstGeom prst="line">
            <a:avLst/>
          </a:prstGeom>
          <a:ln w="16510">
            <a:solidFill>
              <a:srgbClr val="6C76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37360" y="1709928"/>
            <a:ext cx="0" cy="256032"/>
          </a:xfrm>
          <a:prstGeom prst="line">
            <a:avLst/>
          </a:prstGeom>
          <a:ln w="16510">
            <a:solidFill>
              <a:srgbClr val="6C76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8960" y="1463039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6C7688"/>
                </a:solidFill>
                <a:latin typeface="Calibri"/>
              </a:rPr>
              <a:t>po isteku tajmera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383280"/>
            <a:ext cx="4626864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CF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50215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5340"/>
                </a:solidFill>
                <a:latin typeface="Poppins"/>
              </a:rPr>
              <a:t>Guard Clause</a:t>
            </a:r>
            <a:r>
              <a:rPr sz="1000" b="0" i="1">
                <a:solidFill>
                  <a:srgbClr val="6C7688"/>
                </a:solidFill>
                <a:latin typeface="Calibri"/>
              </a:rPr>
              <a:t>  :  nadređeni bezbednosni sloj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0390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A4763"/>
                </a:solidFill>
                <a:latin typeface="Calibri"/>
              </a:rPr>
              <a:t>uslov (Stop ILI greška) → sledeće stanje se prisilno postavlja na Shutdown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76672" y="3776472"/>
            <a:ext cx="475488" cy="0"/>
          </a:xfrm>
          <a:prstGeom prst="line">
            <a:avLst/>
          </a:prstGeom>
          <a:ln w="22860">
            <a:solidFill>
              <a:srgbClr val="CF53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70448" y="3383280"/>
            <a:ext cx="2523744" cy="786384"/>
          </a:xfrm>
          <a:prstGeom prst="roundRect">
            <a:avLst>
              <a:gd name="adj" fmla="val 9000"/>
            </a:avLst>
          </a:prstGeom>
          <a:solidFill>
            <a:srgbClr val="CF5340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0448" y="3474720"/>
            <a:ext cx="25237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Shutdown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3813048"/>
            <a:ext cx="2340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BE0DA"/>
                </a:solidFill>
                <a:latin typeface="Calibri"/>
              </a:rPr>
              <a:t>kontrolisan prekid petlje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0E7C86"/>
                </a:solidFill>
                <a:latin typeface="Poppins"/>
              </a:rPr>
              <a:t>AUTOMAT · IMPLEMENTACIJA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Kako automat 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3998" y="1054359"/>
            <a:ext cx="7429356" cy="4271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US" sz="1600" b="1" dirty="0" smtClean="0">
                <a:solidFill>
                  <a:srgbClr val="3A4763"/>
                </a:solidFill>
                <a:latin typeface="+mj-lt"/>
              </a:rPr>
              <a:t>•  </a:t>
            </a:r>
            <a:r>
              <a:rPr lang="en-US" sz="1600" b="1" dirty="0" err="1">
                <a:solidFill>
                  <a:srgbClr val="3A4763"/>
                </a:solidFill>
                <a:latin typeface="+mj-lt"/>
              </a:rPr>
              <a:t>Struktura</a:t>
            </a:r>
            <a:endParaRPr lang="en-US" sz="1600" b="1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Jedna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While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petlja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;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kroz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shift-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registre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kroz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iteracije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nose: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trenutno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,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integralna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suma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regulatora</a:t>
            </a: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3A4763"/>
                </a:solidFill>
                <a:latin typeface="+mj-lt"/>
              </a:rPr>
              <a:t>U HIL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verziji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poziciju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x automat ne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pamti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lokalno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—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čita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je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mreže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(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održava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je model,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drugom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kontroleru</a:t>
            </a:r>
            <a:r>
              <a:rPr lang="en-US" sz="1100" dirty="0" smtClean="0">
                <a:solidFill>
                  <a:srgbClr val="3A4763"/>
                </a:solidFill>
                <a:latin typeface="+mj-lt"/>
              </a:rPr>
              <a:t>)</a:t>
            </a:r>
            <a:endParaRPr lang="en-US" sz="1050" dirty="0">
              <a:solidFill>
                <a:srgbClr val="3A4763"/>
              </a:solidFill>
              <a:latin typeface="+mj-lt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US" sz="1600" b="1" dirty="0">
                <a:solidFill>
                  <a:srgbClr val="3A4763"/>
                </a:solidFill>
                <a:latin typeface="+mj-lt"/>
              </a:rPr>
              <a:t>• </a:t>
            </a:r>
            <a:r>
              <a:rPr lang="en-US" sz="1600" b="1" dirty="0" err="1">
                <a:solidFill>
                  <a:srgbClr val="3A4763"/>
                </a:solidFill>
                <a:latin typeface="+mj-lt"/>
              </a:rPr>
              <a:t>Tok</a:t>
            </a:r>
            <a:r>
              <a:rPr lang="en-US" sz="1600" b="1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3A4763"/>
                </a:solidFill>
                <a:latin typeface="+mj-lt"/>
              </a:rPr>
              <a:t>jedne</a:t>
            </a:r>
            <a:r>
              <a:rPr lang="en-US" sz="1600" b="1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3A4763"/>
                </a:solidFill>
                <a:latin typeface="+mj-lt"/>
              </a:rPr>
              <a:t>iteracije</a:t>
            </a:r>
            <a:endParaRPr lang="en-US" sz="1600" b="1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Pročita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trenutno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(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shift-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registra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)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pozicija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x (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mreže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)</a:t>
            </a: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3A4763"/>
                </a:solidFill>
                <a:latin typeface="+mj-lt"/>
              </a:rPr>
              <a:t>Guard Clause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proverava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uslov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: Stop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pritisnut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ILI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greška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prisutna</a:t>
            </a: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Ako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je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uslov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ispunjen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→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sledeće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prisilno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postavlja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Shutdown,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zaobilazeći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dalju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logiku</a:t>
            </a: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Ako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uslov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nije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ispunjen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→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glavna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Case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struktura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izvršava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logiku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odgovarajućeg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: </a:t>
            </a: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računa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upravljački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signal u (PI regulator)</a:t>
            </a: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proverava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uslov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prelaska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predlaže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sledeće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stanje</a:t>
            </a: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 err="1">
                <a:solidFill>
                  <a:srgbClr val="3A4763"/>
                </a:solidFill>
                <a:latin typeface="+mj-lt"/>
              </a:rPr>
              <a:t>Izabrano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se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upisuje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u shift-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registar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→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koristi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se u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narednoj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iteraciji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 smtClean="0">
                <a:solidFill>
                  <a:srgbClr val="3A4763"/>
                </a:solidFill>
                <a:latin typeface="+mj-lt"/>
              </a:rPr>
              <a:t>petlje</a:t>
            </a: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US" sz="1600" b="1" dirty="0">
                <a:solidFill>
                  <a:srgbClr val="3A4763"/>
                </a:solidFill>
                <a:latin typeface="+mj-lt"/>
              </a:rPr>
              <a:t>• </a:t>
            </a:r>
            <a:r>
              <a:rPr lang="en-US" sz="1600" b="1" dirty="0" err="1">
                <a:solidFill>
                  <a:srgbClr val="3A4763"/>
                </a:solidFill>
                <a:latin typeface="+mj-lt"/>
              </a:rPr>
              <a:t>Stanja</a:t>
            </a:r>
            <a:r>
              <a:rPr lang="en-US" sz="1600" b="1" dirty="0">
                <a:solidFill>
                  <a:srgbClr val="3A4763"/>
                </a:solidFill>
                <a:latin typeface="+mj-lt"/>
              </a:rPr>
              <a:t> automata</a:t>
            </a: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3A4763"/>
                </a:solidFill>
                <a:latin typeface="+mj-lt"/>
              </a:rPr>
              <a:t>Idle → Moving →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DoorOpen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→ Idle (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normalan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ciklus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)</a:t>
            </a:r>
          </a:p>
          <a:p>
            <a:pPr marL="628650" lvl="1" indent="-171450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3A4763"/>
                </a:solidFill>
                <a:latin typeface="+mj-lt"/>
              </a:rPr>
              <a:t>Shutdown —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dostupno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iz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bilo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kog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stanja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</a:t>
            </a:r>
            <a:r>
              <a:rPr lang="en-US" sz="1100" dirty="0" err="1">
                <a:solidFill>
                  <a:srgbClr val="3A4763"/>
                </a:solidFill>
                <a:latin typeface="+mj-lt"/>
              </a:rPr>
              <a:t>preko</a:t>
            </a:r>
            <a:r>
              <a:rPr lang="en-US" sz="1100" dirty="0">
                <a:solidFill>
                  <a:srgbClr val="3A4763"/>
                </a:solidFill>
                <a:latin typeface="+mj-lt"/>
              </a:rPr>
              <a:t> Guard Clause-a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endParaRPr lang="en-US" sz="1100" dirty="0">
              <a:solidFill>
                <a:srgbClr val="3A4763"/>
              </a:solidFill>
              <a:latin typeface="+mj-lt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endParaRPr lang="sr-Latn-RS" sz="1100" b="0" i="0" dirty="0" smtClean="0">
              <a:solidFill>
                <a:srgbClr val="3A4763"/>
              </a:solidFill>
              <a:latin typeface="+mj-lt"/>
            </a:endParaRPr>
          </a:p>
        </p:txBody>
      </p:sp>
      <p:sp>
        <p:nvSpPr>
          <p:cNvPr id="13" name="AutoShape 2" descr="blob:https://web.whatsapp.com/b1d9635d-070f-480c-bdce-554c2893f55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AUTOMAT · IMPLEMENTACIJA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Kako automat 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08</a:t>
            </a:r>
          </a:p>
        </p:txBody>
      </p:sp>
      <p:sp>
        <p:nvSpPr>
          <p:cNvPr id="13" name="AutoShape 2" descr="blob:https://web.whatsapp.com/b1d9635d-070f-480c-bdce-554c2893f55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13720" y="1086826"/>
            <a:ext cx="8245086" cy="3914381"/>
            <a:chOff x="460375" y="1152144"/>
            <a:chExt cx="7952105" cy="3634460"/>
          </a:xfrm>
        </p:grpSpPr>
        <p:sp>
          <p:nvSpPr>
            <p:cNvPr id="8" name="Rounded Rectangle 7"/>
            <p:cNvSpPr/>
            <p:nvPr/>
          </p:nvSpPr>
          <p:spPr>
            <a:xfrm>
              <a:off x="460375" y="1152144"/>
              <a:ext cx="7952105" cy="3634460"/>
            </a:xfrm>
            <a:prstGeom prst="roundRect">
              <a:avLst>
                <a:gd name="adj" fmla="val 4000"/>
              </a:avLst>
            </a:prstGeom>
            <a:solidFill>
              <a:srgbClr val="F4F6F8"/>
            </a:solidFill>
            <a:ln w="16510">
              <a:solidFill>
                <a:srgbClr val="D9D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18730" y="4535408"/>
              <a:ext cx="6913984" cy="1461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50" b="0" i="0" dirty="0" err="1" smtClean="0">
                  <a:solidFill>
                    <a:srgbClr val="6C7688"/>
                  </a:solidFill>
                  <a:latin typeface="Calibri"/>
                </a:rPr>
                <a:t>Glavna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Case </a:t>
              </a:r>
              <a:r>
                <a:rPr sz="950" b="0" i="0" dirty="0" err="1">
                  <a:solidFill>
                    <a:srgbClr val="6C7688"/>
                  </a:solidFill>
                  <a:latin typeface="Calibri"/>
                </a:rPr>
                <a:t>struktura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 (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Moving)</a:t>
              </a:r>
              <a:r>
                <a:rPr lang="sr-Latn-RS"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err="1" smtClean="0">
                  <a:solidFill>
                    <a:srgbClr val="6C7688"/>
                  </a:solidFill>
                  <a:latin typeface="Calibri"/>
                </a:rPr>
                <a:t>i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Guard Clause 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u</a:t>
              </a:r>
              <a:r>
                <a:rPr lang="sr-Latn-RS"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Automat_Lift_sbRIO.vi</a:t>
              </a:r>
              <a:endParaRPr sz="950" b="0" i="0" dirty="0">
                <a:solidFill>
                  <a:srgbClr val="6C7688"/>
                </a:solidFill>
                <a:latin typeface="Calibri"/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491" y="1306286"/>
              <a:ext cx="7525511" cy="31008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352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FRONT PANEL · PC_HMI_LIFT.VI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Korisnički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114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6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dugmadi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za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izbor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sprata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iznutra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(0-5)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10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spoljašnjih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poziva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(gore/dole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spratu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Unutrašnja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dugmad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su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aktivna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tek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nakon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poziva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spolja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samo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u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smeru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tog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poziva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: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sprečene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besmislene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kombinacije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Glavni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grafik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prikazuje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tačnu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neprekidnu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poziciju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lifta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(Meter).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Kretanje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kroz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spratove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prati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i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vizuelni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indikator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vezan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za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zaokruženu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poziciju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Četiri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LED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indikatora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 (Idle, Moving, </a:t>
            </a:r>
            <a:r>
              <a:rPr sz="1050" b="1" i="0" dirty="0" err="1">
                <a:solidFill>
                  <a:srgbClr val="17223B"/>
                </a:solidFill>
                <a:latin typeface="Calibri"/>
              </a:rPr>
              <a:t>DoorOpen</a:t>
            </a:r>
            <a:r>
              <a:rPr sz="1050" b="1" i="0" dirty="0">
                <a:solidFill>
                  <a:srgbClr val="17223B"/>
                </a:solidFill>
                <a:latin typeface="Calibri"/>
              </a:rPr>
              <a:t>, Shutdown): 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u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svakom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trenutku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svetli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tačno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A4763"/>
                </a:solidFill>
                <a:latin typeface="Calibri"/>
              </a:rPr>
              <a:t>jedan</a:t>
            </a:r>
            <a:r>
              <a:rPr sz="1050" b="0" i="0" dirty="0">
                <a:solidFill>
                  <a:srgbClr val="3A4763"/>
                </a:solidFill>
                <a:latin typeface="Calibri"/>
              </a:rPr>
              <a:t>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993374" y="890296"/>
            <a:ext cx="3704253" cy="3962898"/>
            <a:chOff x="5698683" y="947071"/>
            <a:chExt cx="3429933" cy="3739896"/>
          </a:xfrm>
        </p:grpSpPr>
        <p:sp>
          <p:nvSpPr>
            <p:cNvPr id="8" name="Rounded Rectangle 7"/>
            <p:cNvSpPr/>
            <p:nvPr/>
          </p:nvSpPr>
          <p:spPr>
            <a:xfrm>
              <a:off x="5698683" y="947071"/>
              <a:ext cx="3429933" cy="3739896"/>
            </a:xfrm>
            <a:prstGeom prst="roundRect">
              <a:avLst>
                <a:gd name="adj" fmla="val 4000"/>
              </a:avLst>
            </a:prstGeom>
            <a:solidFill>
              <a:srgbClr val="F4F6F8"/>
            </a:solidFill>
            <a:ln w="16510">
              <a:solidFill>
                <a:srgbClr val="D9D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27750" y="4325332"/>
              <a:ext cx="2971800" cy="2923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Front 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panel 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PC_HMI_Lift.vi:</a:t>
              </a:r>
              <a:r>
                <a:rPr lang="sr-Latn-RS"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err="1" smtClean="0">
                  <a:solidFill>
                    <a:srgbClr val="6C7688"/>
                  </a:solidFill>
                  <a:latin typeface="Calibri"/>
                </a:rPr>
                <a:t>dugmad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, </a:t>
              </a:r>
              <a:r>
                <a:rPr sz="950" b="0" i="0" dirty="0" err="1">
                  <a:solidFill>
                    <a:srgbClr val="6C7688"/>
                  </a:solidFill>
                  <a:latin typeface="Calibri"/>
                </a:rPr>
                <a:t>grafik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err="1" smtClean="0">
                  <a:solidFill>
                    <a:srgbClr val="6C7688"/>
                  </a:solidFill>
                  <a:latin typeface="Calibri"/>
                </a:rPr>
                <a:t>pozicije</a:t>
              </a:r>
              <a:r>
                <a:rPr lang="sr-Latn-RS" sz="950" dirty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err="1" smtClean="0">
                  <a:solidFill>
                    <a:srgbClr val="6C7688"/>
                  </a:solidFill>
                  <a:latin typeface="Calibri"/>
                </a:rPr>
                <a:t>i</a:t>
              </a:r>
              <a:r>
                <a:rPr sz="950" b="0" i="0" dirty="0" smtClean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LED </a:t>
              </a:r>
              <a:r>
                <a:rPr sz="950" b="0" i="0" dirty="0" err="1">
                  <a:solidFill>
                    <a:srgbClr val="6C7688"/>
                  </a:solidFill>
                  <a:latin typeface="Calibri"/>
                </a:rPr>
                <a:t>indikatori</a:t>
              </a:r>
              <a:r>
                <a:rPr sz="950" b="0" i="0" dirty="0">
                  <a:solidFill>
                    <a:srgbClr val="6C7688"/>
                  </a:solidFill>
                  <a:latin typeface="Calibri"/>
                </a:rPr>
                <a:t> </a:t>
              </a:r>
              <a:r>
                <a:rPr sz="950" b="0" i="0" dirty="0" err="1">
                  <a:solidFill>
                    <a:srgbClr val="6C7688"/>
                  </a:solidFill>
                  <a:latin typeface="Calibri"/>
                </a:rPr>
                <a:t>stanja</a:t>
              </a:r>
              <a:endParaRPr sz="950" b="0" i="0" dirty="0">
                <a:solidFill>
                  <a:srgbClr val="6C7688"/>
                </a:solidFill>
                <a:latin typeface="Calibri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750" y="1152144"/>
              <a:ext cx="2971800" cy="310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KORISNIČKI PANEL · IMPLEMENTACIJA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Kako panel 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6" y="1062759"/>
            <a:ext cx="7946323" cy="2332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7223B"/>
                </a:solidFill>
                <a:latin typeface="Calibri"/>
              </a:rPr>
              <a:t>Panel </a:t>
            </a:r>
            <a:r>
              <a:rPr sz="1100" b="1" i="0" dirty="0" err="1">
                <a:solidFill>
                  <a:srgbClr val="17223B"/>
                </a:solidFill>
                <a:latin typeface="Calibri"/>
              </a:rPr>
              <a:t>čine</a:t>
            </a:r>
            <a:r>
              <a:rPr sz="110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dve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nezavisne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petlje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koje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rade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paralelno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Petlja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Event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strukturom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reaguje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isključivo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na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klikove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upisuje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odgovarajuće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komande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na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mrežu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CiljniSprat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poziv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smer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, Stop).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Petlja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za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osvežavanje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: bez Event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strukture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, </a:t>
            </a:r>
            <a:endParaRPr lang="sr-Latn-RS" sz="1100" b="0" i="0" dirty="0" smtClean="0">
              <a:solidFill>
                <a:srgbClr val="3A4763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sr-Latn-RS" sz="1100" b="0" i="0" dirty="0" smtClean="0">
                <a:solidFill>
                  <a:srgbClr val="3A4763"/>
                </a:solidFill>
                <a:latin typeface="Calibri"/>
              </a:rPr>
              <a:t>   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neprekidno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čita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poziciju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stanje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sa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mreže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endParaRPr lang="sr-Latn-RS" sz="1100" b="0" i="0" dirty="0" smtClean="0">
              <a:solidFill>
                <a:srgbClr val="3A4763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sr-Latn-RS" sz="1100" b="0" i="0" dirty="0" smtClean="0">
                <a:solidFill>
                  <a:srgbClr val="3A4763"/>
                </a:solidFill>
                <a:latin typeface="Calibri"/>
              </a:rPr>
              <a:t>   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osvežava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grafik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LED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indikatore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dirty="0">
                <a:solidFill>
                  <a:srgbClr val="0E7C86"/>
                </a:solidFill>
                <a:latin typeface="Calibri"/>
              </a:rPr>
              <a:t>•  </a:t>
            </a:r>
            <a:r>
              <a:rPr sz="1100" b="1" i="0" dirty="0" err="1">
                <a:solidFill>
                  <a:srgbClr val="17223B"/>
                </a:solidFill>
                <a:latin typeface="Calibri"/>
              </a:rPr>
              <a:t>Zašto</a:t>
            </a:r>
            <a:r>
              <a:rPr sz="110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7223B"/>
                </a:solidFill>
                <a:latin typeface="Calibri"/>
              </a:rPr>
              <a:t>dve</a:t>
            </a:r>
            <a:r>
              <a:rPr sz="1100" b="1" i="0" dirty="0">
                <a:solidFill>
                  <a:srgbClr val="17223B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7223B"/>
                </a:solidFill>
                <a:latin typeface="Calibri"/>
              </a:rPr>
              <a:t>petlje</a:t>
            </a:r>
            <a:r>
              <a:rPr sz="1100" b="1" i="0" dirty="0">
                <a:solidFill>
                  <a:srgbClr val="17223B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prikaz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ostaje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gladak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i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ažuran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u </a:t>
            </a:r>
            <a:endParaRPr lang="sr-Latn-RS" sz="1100" b="0" i="0" dirty="0" smtClean="0">
              <a:solidFill>
                <a:srgbClr val="3A4763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sr-Latn-RS" sz="1100" dirty="0">
                <a:solidFill>
                  <a:srgbClr val="3A4763"/>
                </a:solidFill>
                <a:latin typeface="Calibri"/>
              </a:rPr>
              <a:t> </a:t>
            </a:r>
            <a:r>
              <a:rPr lang="sr-Latn-RS" sz="1100" dirty="0" smtClean="0">
                <a:solidFill>
                  <a:srgbClr val="3A4763"/>
                </a:solidFill>
                <a:latin typeface="Calibri"/>
              </a:rPr>
              <a:t>  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realnom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vremenu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nezavisno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od toga da li </a:t>
            </a:r>
            <a:endParaRPr lang="sr-Latn-RS" sz="1100" b="0" i="0" dirty="0" smtClean="0">
              <a:solidFill>
                <a:srgbClr val="3A4763"/>
              </a:solidFill>
              <a:latin typeface="Calibri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lang="sr-Latn-RS" sz="1100" b="0" i="0" dirty="0" smtClean="0">
                <a:solidFill>
                  <a:srgbClr val="3A4763"/>
                </a:solidFill>
                <a:latin typeface="Calibri"/>
              </a:rPr>
              <a:t>    </a:t>
            </a:r>
            <a:r>
              <a:rPr sz="1100" b="0" i="0" dirty="0" err="1" smtClean="0">
                <a:solidFill>
                  <a:srgbClr val="3A4763"/>
                </a:solidFill>
                <a:latin typeface="Calibri"/>
              </a:rPr>
              <a:t>korisnik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lang="sr-Latn-RS" sz="1100" dirty="0" smtClean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smtClean="0">
                <a:solidFill>
                  <a:srgbClr val="3A4763"/>
                </a:solidFill>
                <a:latin typeface="Calibri"/>
              </a:rPr>
              <a:t>u 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tom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trenutku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3A4763"/>
                </a:solidFill>
                <a:latin typeface="Calibri"/>
              </a:rPr>
              <a:t>klika</a:t>
            </a:r>
            <a:r>
              <a:rPr sz="1100" b="0" i="0" dirty="0">
                <a:solidFill>
                  <a:srgbClr val="3A476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40" y="4428979"/>
            <a:ext cx="3060441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 smtClean="0">
                <a:solidFill>
                  <a:srgbClr val="6C7688"/>
                </a:solidFill>
                <a:latin typeface="Calibri"/>
              </a:rPr>
              <a:t>Block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dijagram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smtClean="0">
                <a:solidFill>
                  <a:srgbClr val="6C7688"/>
                </a:solidFill>
                <a:latin typeface="Calibri"/>
              </a:rPr>
              <a:t>PC_HMI_Lift.vi:</a:t>
            </a:r>
            <a:r>
              <a:rPr lang="sr-Latn-RS" sz="950" b="0" i="0" dirty="0" smtClean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smtClean="0">
                <a:solidFill>
                  <a:srgbClr val="6C7688"/>
                </a:solidFill>
                <a:latin typeface="Calibri"/>
              </a:rPr>
              <a:t>Event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struktura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za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 smtClean="0">
                <a:solidFill>
                  <a:srgbClr val="6C7688"/>
                </a:solidFill>
                <a:latin typeface="Calibri"/>
              </a:rPr>
              <a:t>dugmad</a:t>
            </a:r>
            <a:r>
              <a:rPr lang="sr-Latn-RS" sz="95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 smtClean="0">
                <a:solidFill>
                  <a:srgbClr val="6C7688"/>
                </a:solidFill>
                <a:latin typeface="Calibri"/>
              </a:rPr>
              <a:t>i</a:t>
            </a:r>
            <a:r>
              <a:rPr sz="950" b="0" i="0" dirty="0" smtClean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petlja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za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osvežavanje</a:t>
            </a:r>
            <a:r>
              <a:rPr sz="950" b="0" i="0" dirty="0">
                <a:solidFill>
                  <a:srgbClr val="6C768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C7688"/>
                </a:solidFill>
                <a:latin typeface="Calibri"/>
              </a:rPr>
              <a:t>prikaza</a:t>
            </a:r>
            <a:endParaRPr sz="950" b="0" i="0" dirty="0">
              <a:solidFill>
                <a:srgbClr val="6C7688"/>
              </a:solidFill>
              <a:latin typeface="Calibri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881060" y="1914811"/>
            <a:ext cx="4805264" cy="2877589"/>
            <a:chOff x="4124131" y="2361055"/>
            <a:chExt cx="4571997" cy="2677475"/>
          </a:xfrm>
        </p:grpSpPr>
        <p:sp>
          <p:nvSpPr>
            <p:cNvPr id="8" name="Rounded Rectangle 7"/>
            <p:cNvSpPr/>
            <p:nvPr/>
          </p:nvSpPr>
          <p:spPr>
            <a:xfrm>
              <a:off x="4124131" y="2361055"/>
              <a:ext cx="4571997" cy="2677475"/>
            </a:xfrm>
            <a:prstGeom prst="roundRect">
              <a:avLst>
                <a:gd name="adj" fmla="val 4000"/>
              </a:avLst>
            </a:prstGeom>
            <a:solidFill>
              <a:srgbClr val="F4F6F8"/>
            </a:solidFill>
            <a:ln w="16510">
              <a:solidFill>
                <a:srgbClr val="D9D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1121" y="2458087"/>
              <a:ext cx="4339358" cy="2483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402336"/>
            <a:ext cx="128016" cy="384048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3657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Poppins"/>
              </a:rPr>
              <a:t>KONTROLISANO GAŠENJE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035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7223B"/>
                </a:solidFill>
                <a:latin typeface="Poppins"/>
              </a:rPr>
              <a:t>Bezbednost i završetak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4754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C7688"/>
                </a:solidFill>
                <a:latin typeface="Poppin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1605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7223B"/>
                </a:solidFill>
                <a:latin typeface="Calibri"/>
              </a:rPr>
              <a:t>Sistem se zaustavlja preko </a:t>
            </a:r>
            <a:r>
              <a:rPr sz="1150" b="0" i="0">
                <a:solidFill>
                  <a:srgbClr val="3A4763"/>
                </a:solidFill>
                <a:latin typeface="Calibri"/>
              </a:rPr>
              <a:t>Guard Clause mehanizma: pritiskom na Stop ili usled greške automat prelazi u Shutdown.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7223B"/>
                </a:solidFill>
                <a:latin typeface="Calibri"/>
              </a:rPr>
              <a:t>Petlja se prekida </a:t>
            </a:r>
            <a:r>
              <a:rPr sz="1150" b="0" i="0">
                <a:solidFill>
                  <a:srgbClr val="3A4763"/>
                </a:solidFill>
                <a:latin typeface="Calibri"/>
              </a:rPr>
              <a:t>kontrolisano, bez naglog gašenja.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0E7C86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7223B"/>
                </a:solidFill>
                <a:latin typeface="Calibri"/>
              </a:rPr>
              <a:t>Deljene promenljive ostaju </a:t>
            </a:r>
            <a:r>
              <a:rPr sz="1150" b="0" i="0">
                <a:solidFill>
                  <a:srgbClr val="3A4763"/>
                </a:solidFill>
                <a:latin typeface="Calibri"/>
              </a:rPr>
              <a:t>konzistentne: pošto server pamti poslednju vrednost, Shutdown prvo postavi u = 0 i zaustavi kretanje, pa se tek onda petlja gasi, da na mreži ne ostanu zaostale (npr. u različito od nule) ili protivrečne vrednosti.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17320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BE9E4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41732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5340"/>
                </a:solidFill>
                <a:latin typeface="Poppins"/>
              </a:rPr>
              <a:t>Stop  ILI  greška</a:t>
            </a:r>
          </a:p>
        </p:txBody>
      </p:sp>
      <p:sp>
        <p:nvSpPr>
          <p:cNvPr id="10" name="Chevron 9"/>
          <p:cNvSpPr/>
          <p:nvPr/>
        </p:nvSpPr>
        <p:spPr>
          <a:xfrm rot="5400000">
            <a:off x="6620255" y="2029967"/>
            <a:ext cx="292608" cy="201168"/>
          </a:xfrm>
          <a:prstGeom prst="chevron">
            <a:avLst/>
          </a:prstGeom>
          <a:solidFill>
            <a:srgbClr val="6C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0640" y="2240280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224028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7223B"/>
                </a:solidFill>
                <a:latin typeface="Poppins"/>
              </a:rPr>
              <a:t>Guard Clause hvata uslov</a:t>
            </a:r>
          </a:p>
        </p:txBody>
      </p:sp>
      <p:sp>
        <p:nvSpPr>
          <p:cNvPr id="13" name="Chevron 12"/>
          <p:cNvSpPr/>
          <p:nvPr/>
        </p:nvSpPr>
        <p:spPr>
          <a:xfrm rot="5400000">
            <a:off x="6620255" y="2852928"/>
            <a:ext cx="292608" cy="201168"/>
          </a:xfrm>
          <a:prstGeom prst="chevron">
            <a:avLst/>
          </a:prstGeom>
          <a:solidFill>
            <a:srgbClr val="6C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20640" y="3063240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FBE9E4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306324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F5340"/>
                </a:solidFill>
                <a:latin typeface="Poppins"/>
              </a:rPr>
              <a:t>Shutdown: u = 0, kretanje stoji</a:t>
            </a:r>
          </a:p>
        </p:txBody>
      </p:sp>
      <p:sp>
        <p:nvSpPr>
          <p:cNvPr id="16" name="Chevron 15"/>
          <p:cNvSpPr/>
          <p:nvPr/>
        </p:nvSpPr>
        <p:spPr>
          <a:xfrm rot="5400000">
            <a:off x="6620255" y="3675887"/>
            <a:ext cx="292608" cy="201168"/>
          </a:xfrm>
          <a:prstGeom prst="chevron">
            <a:avLst/>
          </a:prstGeom>
          <a:solidFill>
            <a:srgbClr val="6C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20640" y="3886200"/>
            <a:ext cx="3291840" cy="603504"/>
          </a:xfrm>
          <a:prstGeom prst="roundRect">
            <a:avLst>
              <a:gd name="adj" fmla="val 12000"/>
            </a:avLst>
          </a:prstGeom>
          <a:solidFill>
            <a:srgbClr val="E6F3EC"/>
          </a:solidFill>
          <a:ln>
            <a:noFill/>
          </a:ln>
          <a:effectLst>
            <a:outerShdw blurRad="90000" dist="38100" dir="5400000" rotWithShape="0">
              <a:srgbClr val="9B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388620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9E7C"/>
                </a:solidFill>
                <a:latin typeface="Poppins"/>
              </a:rPr>
              <a:t>Bezbedan, konzistentan izlaz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28016" cy="457200"/>
          </a:xfrm>
          <a:prstGeom prst="roundRect">
            <a:avLst>
              <a:gd name="adj" fmla="val 35000"/>
            </a:avLst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9832F"/>
                </a:solidFill>
                <a:latin typeface="Poppins"/>
              </a:rPr>
              <a:t>ZAKLJUČAK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Poppins"/>
              </a:rPr>
              <a:t>Od modela do raspoređenog hardvera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C7D2E2"/>
                </a:solidFill>
                <a:latin typeface="Calibri"/>
              </a:rPr>
              <a:t>Projekat je pokazao ceo put: matematički model → analitički podešen regulator → funkcionalan automat → raspodela na realan, mrežno povezan hardver.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Tipične zamke prelaska na raspoređeni sistem i njihova rešenja: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578608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1E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2743200"/>
            <a:ext cx="420624" cy="420624"/>
          </a:xfrm>
          <a:prstGeom prst="ellipse">
            <a:avLst/>
          </a:prstGeom>
          <a:solidFill>
            <a:srgbClr val="CF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36976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Asimetrija kretanja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6616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AEBBD0"/>
                </a:solidFill>
                <a:latin typeface="Calibri"/>
              </a:rPr>
              <a:t>Bez apsolutne vrednosti greške lift se kretao samo u jednom smeru; provera |e| to rešava.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2578608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1E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9584" y="2743200"/>
            <a:ext cx="420624" cy="420624"/>
          </a:xfrm>
          <a:prstGeom prst="ellipse">
            <a:avLst/>
          </a:prstGeom>
          <a:solidFill>
            <a:srgbClr val="D98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2743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236976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Nepouzdan tajmer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56616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AEBBD0"/>
                </a:solidFill>
                <a:latin typeface="Calibri"/>
              </a:rPr>
              <a:t>Elapsed Time se nije pouzdano resetovao pri ponovnom ulasku u DoorOpen; zamenjen namenskim Action Engine tajmerom.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578608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1E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26480" y="2743200"/>
            <a:ext cx="420624" cy="420624"/>
          </a:xfrm>
          <a:prstGeom prst="ellipse">
            <a:avLst/>
          </a:prstGeom>
          <a:solidFill>
            <a:srgbClr val="E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743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223B"/>
                </a:solidFill>
                <a:latin typeface="Poppi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36976"/>
            <a:ext cx="2084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„Pamćenje“ starog stanja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AEBBD0"/>
                </a:solidFill>
                <a:latin typeface="Calibri"/>
              </a:rPr>
              <a:t>Server pamti poslednju vrednost; reset integralne sume i upis default vrednosti pri startu to čiste.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26280"/>
            <a:ext cx="768096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FFFFFF"/>
                </a:solidFill>
                <a:latin typeface="Poppins"/>
              </a:rPr>
              <a:t>Hvala </a:t>
            </a:r>
            <a:r>
              <a:rPr sz="1350" b="1" i="0" dirty="0" err="1">
                <a:solidFill>
                  <a:srgbClr val="FFFFFF"/>
                </a:solidFill>
                <a:latin typeface="Poppins"/>
              </a:rPr>
              <a:t>na</a:t>
            </a:r>
            <a:r>
              <a:rPr sz="1350" b="1" i="0" dirty="0">
                <a:solidFill>
                  <a:srgbClr val="FFFFFF"/>
                </a:solidFill>
                <a:latin typeface="Poppins"/>
              </a:rPr>
              <a:t> </a:t>
            </a:r>
            <a:r>
              <a:rPr sz="1350" b="1" i="0" dirty="0" err="1">
                <a:solidFill>
                  <a:srgbClr val="FFFFFF"/>
                </a:solidFill>
                <a:latin typeface="Poppins"/>
              </a:rPr>
              <a:t>pažnji</a:t>
            </a:r>
            <a:r>
              <a:rPr lang="en-GB" sz="1350" b="1" i="0" dirty="0">
                <a:solidFill>
                  <a:srgbClr val="FFFFFF"/>
                </a:solidFill>
                <a:latin typeface="Poppins"/>
              </a:rPr>
              <a:t>!</a:t>
            </a:r>
            <a:endParaRPr sz="1350" b="1" i="0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2004</Words>
  <Application>Microsoft Office PowerPoint</Application>
  <PresentationFormat>On-screen Show (16:9)</PresentationFormat>
  <Paragraphs>232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Korisnik</cp:lastModifiedBy>
  <cp:revision>7</cp:revision>
  <dcterms:created xsi:type="dcterms:W3CDTF">2013-01-27T09:14:16Z</dcterms:created>
  <dcterms:modified xsi:type="dcterms:W3CDTF">2026-07-14T00:10:52Z</dcterms:modified>
  <cp:category/>
</cp:coreProperties>
</file>